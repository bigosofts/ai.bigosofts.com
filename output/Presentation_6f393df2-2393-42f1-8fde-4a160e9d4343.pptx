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jpeg"/><Relationship Id="rId3" Type="http://schemas.openxmlformats.org/officeDocument/2006/relationships/image" Target="../media/image-6-3.jpeg"/><Relationship Id="rId4" Type="http://schemas.openxmlformats.org/officeDocument/2006/relationships/image" Target="../media/image-6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jpg"/><Relationship Id="rId3" Type="http://schemas.openxmlformats.org/officeDocument/2006/relationships/image" Target="../media/image-11-3.jpg"/><Relationship Id="rId4" Type="http://schemas.openxmlformats.org/officeDocument/2006/relationships/image" Target="../media/image-11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image" Target="../media/image-21-2.jpg"/><Relationship Id="rId3" Type="http://schemas.openxmlformats.org/officeDocument/2006/relationships/image" Target="../media/image-21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image" Target="../media/image-22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00E67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00E67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274320"/>
            <a:ext cx="1645920" cy="1645920"/>
          </a:xfrm>
          <a:prstGeom prst="ellipse">
            <a:avLst/>
          </a:prstGeom>
          <a:solidFill>
            <a:srgbClr val="1DE9B6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5303520"/>
            <a:ext cx="548640" cy="548640"/>
          </a:xfrm>
          <a:prstGeom prst="ellipse">
            <a:avLst/>
          </a:prstGeom>
          <a:solidFill>
            <a:srgbClr val="1DE9B6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4754880"/>
            <a:ext cx="365760" cy="365760"/>
          </a:xfrm>
          <a:prstGeom prst="ellipse">
            <a:avLst/>
          </a:prstGeom>
          <a:solidFill>
            <a:srgbClr val="00E676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-2743200" y="5486400"/>
            <a:ext cx="18288000" cy="2743200"/>
          </a:xfrm>
          <a:prstGeom prst="ellipse">
            <a:avLst/>
          </a:prstGeom>
          <a:solidFill>
            <a:srgbClr val="00E676">
              <a:alpha val="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-1828800" y="5852160"/>
            <a:ext cx="16459200" cy="2286000"/>
          </a:xfrm>
          <a:prstGeom prst="ellipse">
            <a:avLst/>
          </a:prstGeom>
          <a:solidFill>
            <a:srgbClr val="1DE9B6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spc="150" kern="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গবাদি পশুপালন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097280" y="3200400"/>
            <a:ext cx="9966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কৃষিশিক্ষা দ্বিতীয় পত্রঃ অধ্যায় ০৩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572000" y="4114800"/>
            <a:ext cx="3044952" cy="54864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502920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কৃষিবিদ আব্দুল্লাহ আল আমিন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অনার্স (কৃষি), মাস্টার্স ইন প্ল্যান্ট প্যাথলজি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প্রভাষক, রাজেন্দ্রপুর ক্যান্টনমেন্ট পাবলিক কলেজ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-1828800" y="5669280"/>
            <a:ext cx="15544800" cy="137160"/>
          </a:xfrm>
          <a:prstGeom prst="rect">
            <a:avLst/>
          </a:prstGeom>
          <a:solidFill>
            <a:srgbClr val="1DE9B6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00000">
            <a:off x="-1828800" y="5943600"/>
            <a:ext cx="15544800" cy="54864"/>
          </a:xfrm>
          <a:prstGeom prst="rect">
            <a:avLst/>
          </a:prstGeom>
          <a:solidFill>
            <a:srgbClr val="00E67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152400" dist="50800" dir="162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584448" y="0"/>
            <a:ext cx="73152" cy="6858000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DE9B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০১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389120" y="25603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পাঠ-৫: ছাগলের জাত ও বৈশিষ্ট্য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389120" y="4114800"/>
            <a:ext cx="2743200" cy="73152"/>
          </a:xfrm>
          <a:prstGeom prst="rect">
            <a:avLst/>
          </a:prstGeom>
          <a:solidFill>
            <a:srgbClr val="1DE9B6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82B3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ছাগল পালনের গুরুত্ব ও সাধারণ পরিচিতি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051560"/>
            <a:ext cx="11274552" cy="1143000"/>
          </a:xfrm>
          <a:prstGeom prst="roundRect">
            <a:avLst>
              <a:gd name="adj" fmla="val 5600"/>
            </a:avLst>
          </a:prstGeom>
          <a:solidFill>
            <a:srgbClr val="082B30"/>
          </a:solidFill>
          <a:ln w="12700">
            <a:solidFill>
              <a:srgbClr val="1E5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51560"/>
            <a:ext cx="91440" cy="1143000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1307592"/>
            <a:ext cx="10652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2E8F0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বাংলাদেশে প্রায় ৬০% পরিবার ছাগল পালন করে জীবিকা নির্বাহ ও আমিষের চাহিদা পূরণ করে। স্বল্প ব্যয়, কম খাদ্য চাহিদা এবং উচ্চ উৎপাদনশীলতার কারণে ছাগলকে 'দরিদ্রের গাভী' বলা হয়। পৃথিবীতে প্রায় ৩০০ জাতের ছাগল রয়েছে।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0E676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মূল বৈশিষ্ট্য ও অর্থনৈতিক দিকসমূহ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953512"/>
            <a:ext cx="1143000" cy="54864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191256"/>
            <a:ext cx="2654046" cy="2560320"/>
          </a:xfrm>
          <a:prstGeom prst="roundRect">
            <a:avLst>
              <a:gd name="adj" fmla="val 2857"/>
            </a:avLst>
          </a:prstGeom>
          <a:solidFill>
            <a:srgbClr val="0B343B"/>
          </a:solidFill>
          <a:ln w="12700">
            <a:solidFill>
              <a:srgbClr val="1E5761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191256"/>
            <a:ext cx="2654046" cy="73152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2" name="Shape 10"/>
          <p:cNvSpPr/>
          <p:nvPr/>
        </p:nvSpPr>
        <p:spPr>
          <a:xfrm>
            <a:off x="713232" y="3493008"/>
            <a:ext cx="493776" cy="493776"/>
          </a:xfrm>
          <a:prstGeom prst="ellipse">
            <a:avLst/>
          </a:prstGeom>
          <a:solidFill>
            <a:srgbClr val="082B30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493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4133088"/>
            <a:ext cx="21968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🐐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58368" y="4818888"/>
            <a:ext cx="2251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দরিদ্রের গাভী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5321808"/>
            <a:ext cx="21968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স্বল্প পুঁজি ও খাদ্য খরচে সহজ লালন-পালন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0702" y="3191256"/>
            <a:ext cx="2654046" cy="2560320"/>
          </a:xfrm>
          <a:prstGeom prst="roundRect">
            <a:avLst>
              <a:gd name="adj" fmla="val 2857"/>
            </a:avLst>
          </a:prstGeom>
          <a:solidFill>
            <a:srgbClr val="0B343B"/>
          </a:solidFill>
          <a:ln w="12700">
            <a:solidFill>
              <a:srgbClr val="1E5761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30702" y="3191256"/>
            <a:ext cx="2654046" cy="73152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19" name="Shape 17"/>
          <p:cNvSpPr/>
          <p:nvPr/>
        </p:nvSpPr>
        <p:spPr>
          <a:xfrm>
            <a:off x="3586734" y="3493008"/>
            <a:ext cx="493776" cy="493776"/>
          </a:xfrm>
          <a:prstGeom prst="ellipse">
            <a:avLst/>
          </a:prstGeom>
          <a:solidFill>
            <a:srgbClr val="082B30"/>
          </a:solidFill>
          <a:ln/>
        </p:spPr>
      </p:sp>
      <p:sp>
        <p:nvSpPr>
          <p:cNvPr id="20" name="Text 18"/>
          <p:cNvSpPr/>
          <p:nvPr/>
        </p:nvSpPr>
        <p:spPr>
          <a:xfrm>
            <a:off x="3586734" y="3493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559302" y="4133088"/>
            <a:ext cx="21968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🍖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531870" y="4818888"/>
            <a:ext cx="2251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উচ্চ চাহিদা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59302" y="5321808"/>
            <a:ext cx="21968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খাসির মাংস, চামড়া ও পশমের বিশ্বব্যাপী সুনাম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04204" y="3191256"/>
            <a:ext cx="2654046" cy="2560320"/>
          </a:xfrm>
          <a:prstGeom prst="roundRect">
            <a:avLst>
              <a:gd name="adj" fmla="val 2857"/>
            </a:avLst>
          </a:prstGeom>
          <a:solidFill>
            <a:srgbClr val="0B343B"/>
          </a:solidFill>
          <a:ln w="12700">
            <a:solidFill>
              <a:srgbClr val="1E5761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04204" y="3191256"/>
            <a:ext cx="2654046" cy="73152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6" name="Shape 24"/>
          <p:cNvSpPr/>
          <p:nvPr/>
        </p:nvSpPr>
        <p:spPr>
          <a:xfrm>
            <a:off x="6460236" y="3493008"/>
            <a:ext cx="493776" cy="493776"/>
          </a:xfrm>
          <a:prstGeom prst="ellipse">
            <a:avLst/>
          </a:prstGeom>
          <a:solidFill>
            <a:srgbClr val="082B30"/>
          </a:solidFill>
          <a:ln/>
        </p:spPr>
      </p:sp>
      <p:sp>
        <p:nvSpPr>
          <p:cNvPr id="27" name="Text 25"/>
          <p:cNvSpPr/>
          <p:nvPr/>
        </p:nvSpPr>
        <p:spPr>
          <a:xfrm>
            <a:off x="6460236" y="3493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32804" y="4133088"/>
            <a:ext cx="21968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🥛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405372" y="4818888"/>
            <a:ext cx="2251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ঔষধি গুণ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32804" y="5321808"/>
            <a:ext cx="21968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ছাগলের দুধ যক্ষ্মা ও হাঁপানি রোগের প্রতিষেধক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9077706" y="3191256"/>
            <a:ext cx="2654046" cy="2560320"/>
          </a:xfrm>
          <a:prstGeom prst="roundRect">
            <a:avLst>
              <a:gd name="adj" fmla="val 2857"/>
            </a:avLst>
          </a:prstGeom>
          <a:solidFill>
            <a:srgbClr val="0B343B"/>
          </a:solidFill>
          <a:ln w="12700">
            <a:solidFill>
              <a:srgbClr val="1E5761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9077706" y="3191256"/>
            <a:ext cx="2654046" cy="73152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33" name="Shape 31"/>
          <p:cNvSpPr/>
          <p:nvPr/>
        </p:nvSpPr>
        <p:spPr>
          <a:xfrm>
            <a:off x="9333738" y="3493008"/>
            <a:ext cx="493776" cy="493776"/>
          </a:xfrm>
          <a:prstGeom prst="ellipse">
            <a:avLst/>
          </a:prstGeom>
          <a:solidFill>
            <a:srgbClr val="082B30"/>
          </a:solidFill>
          <a:ln/>
        </p:spPr>
      </p:sp>
      <p:sp>
        <p:nvSpPr>
          <p:cNvPr id="34" name="Text 32"/>
          <p:cNvSpPr/>
          <p:nvPr/>
        </p:nvSpPr>
        <p:spPr>
          <a:xfrm>
            <a:off x="9333738" y="349300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9306306" y="4133088"/>
            <a:ext cx="219684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</a:t>
            </a:r>
            <a:endParaRPr lang="en-US" sz="2800" dirty="0"/>
          </a:p>
        </p:txBody>
      </p:sp>
      <p:sp>
        <p:nvSpPr>
          <p:cNvPr id="36" name="Text 34"/>
          <p:cNvSpPr/>
          <p:nvPr/>
        </p:nvSpPr>
        <p:spPr>
          <a:xfrm>
            <a:off x="9278874" y="4818888"/>
            <a:ext cx="22517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রোগ প্রতিরোধ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9306306" y="5321808"/>
            <a:ext cx="219684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রোগ-বালাই তুলনামূলক অনেক কম হয়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82B3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ব্ল্যাক বেঙ্গল ছাগল (Black Bengal Goat)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উৎপত্তি ও বিস্তার: বাংলাদেশ এবং ভারতের পশ্চিমবঙ্গ, মেঘালয় ও আসামের নিজস্ব ও বিখ্যাত জাত।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প্রজনন ক্ষমতা: ৭-৮ মাস বয়সে প্রজননোপযোগী হয় এবং ১৩-১৪ মাসে প্রথম বাচ্চা দেয়। বছরে দু'বার ২-৪টি করে বাচ্চা প্রসব করে।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দৈহিক গঠন: দেহের গড়ন আঁটসাঁট, পা খাটো ও শক্তপোক্ত। কান সোজা ও ওপরের দিকে থাকে।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উৎপাদন: মাংস অত্যন্ত সুস্বাদু ও উন্নতমানের। পূর্ণবয়স্ক ছাগলের ওজন ৩৫ কেজি পর্যন্ত এবং দৈনিক ০.৫-১.০ লিটার দুধ দেয়।</a:t>
            </a:r>
            <a:endParaRPr lang="en-US" sz="1800" dirty="0"/>
          </a:p>
        </p:txBody>
      </p:sp>
      <p:pic>
        <p:nvPicPr>
          <p:cNvPr id="6" name="Image 0" descr="F:\Commercial Project\pptx generator\pptx generator\uploads\img_sess-msxx5sog-8qty6is_e268b001-19b8-4150-bb38-65fd207bd7fc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1280160"/>
            <a:ext cx="5486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82B3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বিদেশি জাতের ছাগল ও বৈশিষ্ট্য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0B343B"/>
          </a:solidFill>
          <a:ln w="12700">
            <a:solidFill>
              <a:srgbClr val="1E5761"/>
            </a:solidFill>
            <a:prstDash val="solid"/>
          </a:ln>
          <a:effectLst>
            <a:outerShdw sx="100000" sy="100000" kx="0" ky="0" algn="bl" rotWithShape="0" blurRad="76200" dist="25400" dir="135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26187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00E67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22529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🇬🇧  অ্যাংলো নোবিয়ান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76479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নোবিয়ান ও ইংলিশ জাতের সংকর। কান লম্বা, শিং নেই। ওলান বড়। দৈনিক ৫-৬ লিটার দুধ দেয় (চর্বি ৪.৫%)।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06824" y="118872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0B343B"/>
          </a:solidFill>
          <a:ln w="12700">
            <a:solidFill>
              <a:srgbClr val="1E5761"/>
            </a:solidFill>
            <a:prstDash val="solid"/>
          </a:ln>
          <a:effectLst>
            <a:outerShdw sx="100000" sy="100000" kx="0" ky="0" algn="bl" rotWithShape="0" blurRad="76200" dist="25400" dir="135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9976" y="126187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1DE9B6"/>
          </a:solidFill>
          <a:ln/>
        </p:spPr>
      </p:sp>
      <p:sp>
        <p:nvSpPr>
          <p:cNvPr id="11" name="Text 9"/>
          <p:cNvSpPr/>
          <p:nvPr/>
        </p:nvSpPr>
        <p:spPr>
          <a:xfrm>
            <a:off x="4416552" y="122529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🇮🇳  যমুনাপাড়ি (রাম ছাগল)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16552" y="176479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উৎপত্তি ভারত। কান লম্বা, ঝুলন্ত ও চ্যাপ্টা। বছরে ১ বার ১টি বাচ্চা দেয়। ওজন ৬৫-৯০ কেজি ও দৈনিক ২-৩ লিটার দুধ দেয়।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6448" y="118872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0B343B"/>
          </a:solidFill>
          <a:ln w="12700">
            <a:solidFill>
              <a:srgbClr val="1E5761"/>
            </a:solidFill>
            <a:prstDash val="solid"/>
          </a:ln>
          <a:effectLst>
            <a:outerShdw sx="100000" sy="100000" kx="0" ky="0" algn="bl" rotWithShape="0" blurRad="76200" dist="25400" dir="135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26187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00E676"/>
          </a:solidFill>
          <a:ln/>
        </p:spPr>
      </p:sp>
      <p:sp>
        <p:nvSpPr>
          <p:cNvPr id="15" name="Text 13"/>
          <p:cNvSpPr/>
          <p:nvPr/>
        </p:nvSpPr>
        <p:spPr>
          <a:xfrm>
            <a:off x="8266176" y="122529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🇨🇭  সানেন (Saanen)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66176" y="176479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আদি নিবাস সুইজারল্যান্ড। সাদা/বাদামি রঙ, গলা লম্বা ও সরু। ওজন ৬০-৭৫ কেজি। দৈনিক ৩-৫ লিটার দুধ দেয় (চর্বি ৪%)।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0B343B"/>
          </a:solidFill>
          <a:ln w="12700">
            <a:solidFill>
              <a:srgbClr val="1E5761"/>
            </a:solidFill>
            <a:prstDash val="solid"/>
          </a:ln>
          <a:effectLst>
            <a:outerShdw sx="100000" sy="100000" kx="0" ky="0" algn="bl" rotWithShape="0" blurRad="76200" dist="25400" dir="135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" y="382219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1DE9B6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78561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🇵🇰  বিটল (Beetal)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432511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উৎপত্তি পাঞ্জাব ও পাকিস্তান। কান লম্বা ও ঝুলানো, নাক ও শিং বাঁকা। ওজন ৪৫-৬৫ কেজি এবং দৈনিক ৩-৪ লিটার দুধ দেয়।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06824" y="374904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0B343B"/>
          </a:solidFill>
          <a:ln w="12700">
            <a:solidFill>
              <a:srgbClr val="1E5761"/>
            </a:solidFill>
            <a:prstDash val="solid"/>
          </a:ln>
          <a:effectLst>
            <a:outerShdw sx="100000" sy="100000" kx="0" ky="0" algn="bl" rotWithShape="0" blurRad="76200" dist="25400" dir="135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79976" y="382219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00E676"/>
          </a:solidFill>
          <a:ln/>
        </p:spPr>
      </p:sp>
      <p:sp>
        <p:nvSpPr>
          <p:cNvPr id="23" name="Text 21"/>
          <p:cNvSpPr/>
          <p:nvPr/>
        </p:nvSpPr>
        <p:spPr>
          <a:xfrm>
            <a:off x="4416552" y="378561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🎯  উৎপাদন লক্ষ্য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16552" y="432511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উচ্চ দুধ উৎপাদন ও সংকরায়ণের মাধ্যমে দেশীয় জাতের উৎপাদন ক্ষমতা বৃদ্ধির জন্য এদের পালন করা হয়।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56448" y="374904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0B343B"/>
          </a:solidFill>
          <a:ln w="12700">
            <a:solidFill>
              <a:srgbClr val="1E5761"/>
            </a:solidFill>
            <a:prstDash val="solid"/>
          </a:ln>
          <a:effectLst>
            <a:outerShdw sx="100000" sy="100000" kx="0" ky="0" algn="bl" rotWithShape="0" blurRad="76200" dist="25400" dir="135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0" y="382219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1DE9B6"/>
          </a:solidFill>
          <a:ln/>
        </p:spPr>
      </p:sp>
      <p:sp>
        <p:nvSpPr>
          <p:cNvPr id="27" name="Text 25"/>
          <p:cNvSpPr/>
          <p:nvPr/>
        </p:nvSpPr>
        <p:spPr>
          <a:xfrm>
            <a:off x="8266176" y="378561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🌡️  উপযোগিতা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66176" y="432511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উন্নত খাদ্য ও স্বাস্থ্য ব্যবস্থাপনায় আমাদের দেশেও নিবিড় ও আধা-নিবিড় পদ্ধতিতে খামার উপযোগী।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82B3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বিদেশি ছাগলের প্রধান জাতসমূহ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1DE9B6"/>
          </a:solidFill>
          <a:ln/>
        </p:spPr>
      </p:sp>
      <p:pic>
        <p:nvPicPr>
          <p:cNvPr id="5" name="Image 0" descr="F:\Commercial Project\pptx generator\pptx generator\uploads\img_sess-msxx5sog-8qty6is_8f675d26-979f-4fca-a5fc-10ab69905d30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347472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Anglo-Nubian (দুধ ও মাংসল জাত)</a:t>
            </a:r>
            <a:endParaRPr lang="en-US" sz="1000" dirty="0"/>
          </a:p>
        </p:txBody>
      </p:sp>
      <p:pic>
        <p:nvPicPr>
          <p:cNvPr id="7" name="Image 1" descr="F:\Commercial Project\pptx generator\pptx generator\uploads\img_sess-msxx5sog-8qty6is_84730288-9eb7-45dd-86ff-3348fb07331b.jpe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06240" y="1188720"/>
            <a:ext cx="3474720" cy="2377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06240" y="3611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Jamunapari / রাম ছাগল</a:t>
            </a:r>
            <a:endParaRPr lang="en-US" sz="1000" dirty="0"/>
          </a:p>
        </p:txBody>
      </p:sp>
      <p:pic>
        <p:nvPicPr>
          <p:cNvPr id="9" name="Image 2" descr="F:\Commercial Project\pptx generator\pptx generator\uploads\img_sess-msxx5sog-8qty6is_0f1dafa8-a5fa-4e1e-8b8a-245af48a6040.jpe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55280" y="1188720"/>
            <a:ext cx="3474720" cy="29260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5528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Saanen (দুগ্ধবতী জাত)</a:t>
            </a:r>
            <a:endParaRPr lang="en-US" sz="1000" dirty="0"/>
          </a:p>
        </p:txBody>
      </p:sp>
      <p:pic>
        <p:nvPicPr>
          <p:cNvPr id="11" name="Image 3" descr="F:\Commercial Project\pptx generator\pptx generator\uploads\img_sess-msxx5sog-8qty6is_fcf516f8-b0a3-4130-85f7-b5e3037e82ff.jpe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7200" y="4389120"/>
            <a:ext cx="3474720" cy="23774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7200" y="6812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Beetal Goat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82B3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ব্ল্যাক বেঙ্গল বনাম যমুনাপাড়ি ছাগলের তুলনামূলক পার্থক্য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2743200" cy="718457"/>
          </a:xfrm>
          <a:prstGeom prst="rect">
            <a:avLst/>
          </a:prstGeom>
          <a:solidFill>
            <a:srgbClr val="082B3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0" y="1371600"/>
            <a:ext cx="4265676" cy="718457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0" y="1371600"/>
            <a:ext cx="426567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ব্ল্যাক বেঙ্গল ছাগল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66076" y="1371600"/>
            <a:ext cx="4265676" cy="718457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9" name="Text 7"/>
          <p:cNvSpPr/>
          <p:nvPr/>
        </p:nvSpPr>
        <p:spPr>
          <a:xfrm>
            <a:off x="7466076" y="1371600"/>
            <a:ext cx="426567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যমুনাপাড়ি ছাগল (রাম ছাগল)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090057"/>
            <a:ext cx="2743200" cy="718457"/>
          </a:xfrm>
          <a:prstGeom prst="rect">
            <a:avLst/>
          </a:prstGeom>
          <a:solidFill>
            <a:srgbClr val="0B343B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090057"/>
            <a:ext cx="2468880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 ও শিংয়ের গঠন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00400" y="2090057"/>
            <a:ext cx="4265676" cy="718457"/>
          </a:xfrm>
          <a:prstGeom prst="rect">
            <a:avLst/>
          </a:prstGeom>
          <a:solidFill>
            <a:srgbClr val="0B343B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090057"/>
            <a:ext cx="408279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 খাটো, শিং কালো ও সরু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466076" y="2090057"/>
            <a:ext cx="4265676" cy="718457"/>
          </a:xfrm>
          <a:prstGeom prst="rect">
            <a:avLst/>
          </a:prstGeom>
          <a:solidFill>
            <a:srgbClr val="0B343B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57516" y="2090057"/>
            <a:ext cx="408279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 লম্বা, শিং চ্যাপ্টা ও পায়ে ঘন লোম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808514"/>
            <a:ext cx="2743200" cy="718457"/>
          </a:xfrm>
          <a:prstGeom prst="rect">
            <a:avLst/>
          </a:prstGeom>
          <a:solidFill>
            <a:srgbClr val="082B30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808514"/>
            <a:ext cx="2468880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কানের আকৃতি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200400" y="2808514"/>
            <a:ext cx="4265676" cy="718457"/>
          </a:xfrm>
          <a:prstGeom prst="rect">
            <a:avLst/>
          </a:prstGeom>
          <a:solidFill>
            <a:srgbClr val="082B30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91840" y="2808514"/>
            <a:ext cx="408279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কান খাটো এবং খাড়া থাকে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66076" y="2808514"/>
            <a:ext cx="4265676" cy="718457"/>
          </a:xfrm>
          <a:prstGeom prst="rect">
            <a:avLst/>
          </a:prstGeom>
          <a:solidFill>
            <a:srgbClr val="082B30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57516" y="2808514"/>
            <a:ext cx="408279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কান লম্বা, চ্যাপ্টা ও ঝুলানো থাকে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526971"/>
            <a:ext cx="2743200" cy="718457"/>
          </a:xfrm>
          <a:prstGeom prst="rect">
            <a:avLst/>
          </a:prstGeom>
          <a:solidFill>
            <a:srgbClr val="0B343B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526971"/>
            <a:ext cx="2468880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ওলান ও বাট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200400" y="3526971"/>
            <a:ext cx="4265676" cy="718457"/>
          </a:xfrm>
          <a:prstGeom prst="rect">
            <a:avLst/>
          </a:prstGeom>
          <a:solidFill>
            <a:srgbClr val="0B343B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91840" y="3526971"/>
            <a:ext cx="408279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ওলান ছোট এবং বাট খাটো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466076" y="3526971"/>
            <a:ext cx="4265676" cy="718457"/>
          </a:xfrm>
          <a:prstGeom prst="rect">
            <a:avLst/>
          </a:prstGeom>
          <a:solidFill>
            <a:srgbClr val="0B343B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57516" y="3526971"/>
            <a:ext cx="408279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ওলান বেশ বড় এবং বাট লম্বা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245429"/>
            <a:ext cx="2743200" cy="718457"/>
          </a:xfrm>
          <a:prstGeom prst="rect">
            <a:avLst/>
          </a:prstGeom>
          <a:solidFill>
            <a:srgbClr val="082B30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4245429"/>
            <a:ext cx="2468880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বাচ্চা উৎপাদন ক্ষমতা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00400" y="4245429"/>
            <a:ext cx="4265676" cy="718457"/>
          </a:xfrm>
          <a:prstGeom prst="rect">
            <a:avLst/>
          </a:prstGeom>
          <a:solidFill>
            <a:srgbClr val="082B30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91840" y="4245429"/>
            <a:ext cx="408279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বছরে ২ বার, প্রতিবারে ২-৪টি বাচ্চা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466076" y="4245429"/>
            <a:ext cx="4265676" cy="718457"/>
          </a:xfrm>
          <a:prstGeom prst="rect">
            <a:avLst/>
          </a:prstGeom>
          <a:solidFill>
            <a:srgbClr val="082B30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57516" y="4245429"/>
            <a:ext cx="408279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বছরে ১ বার, প্রতিবারে ১টি বাচ্চা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57200" y="4963886"/>
            <a:ext cx="2743200" cy="718457"/>
          </a:xfrm>
          <a:prstGeom prst="rect">
            <a:avLst/>
          </a:prstGeom>
          <a:solidFill>
            <a:srgbClr val="0B343B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4963886"/>
            <a:ext cx="2468880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লোমের প্রকৃতি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3200400" y="4963886"/>
            <a:ext cx="4265676" cy="718457"/>
          </a:xfrm>
          <a:prstGeom prst="rect">
            <a:avLst/>
          </a:prstGeom>
          <a:solidFill>
            <a:srgbClr val="0B343B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91840" y="4963886"/>
            <a:ext cx="408279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লোম মসৃণ ও মোলায়েম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466076" y="4963886"/>
            <a:ext cx="4265676" cy="718457"/>
          </a:xfrm>
          <a:prstGeom prst="rect">
            <a:avLst/>
          </a:prstGeom>
          <a:solidFill>
            <a:srgbClr val="0B343B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57516" y="4963886"/>
            <a:ext cx="408279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লোম লম্বা প্রকৃতির এবং খসখসে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5682343"/>
            <a:ext cx="2743200" cy="718457"/>
          </a:xfrm>
          <a:prstGeom prst="rect">
            <a:avLst/>
          </a:prstGeom>
          <a:solidFill>
            <a:srgbClr val="082B30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5682343"/>
            <a:ext cx="2468880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দুধ ও মাংসের গুণ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200400" y="5682343"/>
            <a:ext cx="4265676" cy="718457"/>
          </a:xfrm>
          <a:prstGeom prst="rect">
            <a:avLst/>
          </a:prstGeom>
          <a:solidFill>
            <a:srgbClr val="082B30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91840" y="5682343"/>
            <a:ext cx="408279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দুধ কম (০.৫-১ লিটার), মাংস সুস্বাদু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466076" y="5682343"/>
            <a:ext cx="4265676" cy="718457"/>
          </a:xfrm>
          <a:prstGeom prst="rect">
            <a:avLst/>
          </a:prstGeom>
          <a:solidFill>
            <a:srgbClr val="082B30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57516" y="5682343"/>
            <a:ext cx="4082796" cy="718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দুধ বেশি (২-৩ লিটার), মাংস কম সুস্বাদু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-1828800" y="5669280"/>
            <a:ext cx="15544800" cy="137160"/>
          </a:xfrm>
          <a:prstGeom prst="rect">
            <a:avLst/>
          </a:prstGeom>
          <a:solidFill>
            <a:srgbClr val="1DE9B6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00000">
            <a:off x="-1828800" y="5943600"/>
            <a:ext cx="15544800" cy="54864"/>
          </a:xfrm>
          <a:prstGeom prst="rect">
            <a:avLst/>
          </a:prstGeom>
          <a:solidFill>
            <a:srgbClr val="00E67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152400" dist="50800" dir="162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584448" y="0"/>
            <a:ext cx="73152" cy="6858000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DE9B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০২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389120" y="25603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পাঠ-৬: গরুর আবাসস্থল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389120" y="4114800"/>
            <a:ext cx="2743200" cy="73152"/>
          </a:xfrm>
          <a:prstGeom prst="rect">
            <a:avLst/>
          </a:prstGeom>
          <a:solidFill>
            <a:srgbClr val="1DE9B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82B3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গরুর আবাসস্থল ও গোশালা স্থাপনের নিয়মাবলি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স্থান নির্বাচন: উঁচু, শুষ্ক ও খোলামেলা স্থান নির্বাচন করতে হবে যাতে বৃষ্টির পানি না জমে।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বায়ু চলাচল ও পরিবেশ: ঘর যেন স্যাঁতসেঁতে না থাকে, পর্যাপ্ত আলো-বাতাস নিশ্চিত করতে হবে।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কাঠামো ও দেয়াল: নিচে ৯০ সেমি দেয়াল এবং ওপরে জালের বেড়া দেওয়া ভালো। বাঁশ, খড় বা টিনের চালা ব্যবহার্য।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জায়গার পরিমাপ: প্রতিটি গাভির জন্য ৫ বর্গমিটার স্থান এবং ঘরের উচ্চতা ২.৫-৩ মিটার হতে হবে।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বর্জ্য নিষ্কাশন: মেঝে পেছনের দিকে ঢালু রাখা প্রয়োজন যেন গোবর ও মূত্র সহজে ড্রেনে চলে যায়।</a:t>
            </a:r>
            <a:endParaRPr lang="en-US" sz="1800" dirty="0"/>
          </a:p>
        </p:txBody>
      </p:sp>
      <p:pic>
        <p:nvPicPr>
          <p:cNvPr id="6" name="Image 0" descr="F:\Commercial Project\pptx generator\pptx generator\uploads\img_sess-msxx5sog-8qty6is_94efebce-e081-4f7a-b5de-1725136c152d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1280160"/>
            <a:ext cx="5486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82B3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বাসস্থান পদ্ধতি: খোলা ঘর বনাম বাঁধা ঘর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0B343B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00E67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990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১. খোলা ঘর পদ্ধতি (Open Housing)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বিবরণ: বাচ্চা প্রসব ও দুধ দোহন ছাড়া দিন-রাত পশুকে দেয়ালবেষ্টিত খোলা জায়গায় রাখা হয়। খোলা স্থান সংলগ্ন আশ্রয়ের শেড থাকে।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স্থান: গাভি প্রতি ৩.৫ বর্গমিটার আবৃত এবং ৭.০ বর্গমিটার খোলা স্থান লাগে।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সুবিধা: নির্মাণ খরচ কম, সম্প্রসারণ সহজ, গাভি ৫-১০% দুধ বেশি দেয় এবং ওলানে আঘাতের ঝুঁকি থাকে না।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অসুবিধা: দুর্বল পশু খাদ্যের প্রতিযোগিতায় দুর্বল হয় এবং আক্রমণের ঝুঁকি থাকে।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0B343B"/>
          </a:solidFill>
          <a:ln w="19050">
            <a:solidFill>
              <a:srgbClr val="1DE9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37160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1DE9B6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3990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২. বাঁধা ঘর পদ্ধতি (Tie Stall Housing)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বিবরণ: গলায় দড়ি বা শিকল দিয়ে নির্দিষ্ট স্থানে বেঁধে পালন করা হয়। সাধারণত পারিবারিক বা বাণিজ্যিক খামারে ব্যবহৃত হয়।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প্রকারভেদ: এক-সারি বিশিষ্ট গোশালা ও দ্বি-সারি বিশিষ্ট গোশালা।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সুবিধা: প্রতিকূল আবহাওয়ায় নিরাপদ, কৃত্রিম প্রজনন ও দুধ দোহন সহজ, সুষম খাদ্য নিশ্চিত করা যায়।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অসুবিধা: নির্মাণ ব্যয় বেশি, পশু মুক্ত চলাফেরা করতে পারে না এবং মেঝে স্যাঁতসেঁতে হওয়ার আশঙ্কা থাকে।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82B3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গোশালার বিন্যাস ও প্রকারভেদ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1DE9B6"/>
          </a:solidFill>
          <a:ln/>
        </p:spPr>
      </p:sp>
      <p:pic>
        <p:nvPicPr>
          <p:cNvPr id="5" name="Image 0" descr="F:\Commercial Project\pptx generator\pptx generator\uploads\img_sess-msxx5sog-8qty6is_232bb2b1-e586-4c00-b736-108beab2cfd5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188720"/>
            <a:ext cx="347472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মুক্ত চারণ ও স্বল্প ব্যয়ের শেড</a:t>
            </a:r>
            <a:endParaRPr lang="en-US" sz="1000" dirty="0"/>
          </a:p>
        </p:txBody>
      </p:sp>
      <p:pic>
        <p:nvPicPr>
          <p:cNvPr id="7" name="Image 1" descr="F:\Commercial Project\pptx generator\pptx generator\uploads\img_sess-msxx5sog-8qty6is_c7d51f80-948d-485b-a30a-57fafc202ef3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206240" y="1188720"/>
            <a:ext cx="3474720" cy="23774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206240" y="36118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নিয়ন্ত্রিত ও নিরাপদ গোশালা</a:t>
            </a:r>
            <a:endParaRPr lang="en-US" sz="1000" dirty="0"/>
          </a:p>
        </p:txBody>
      </p:sp>
      <p:pic>
        <p:nvPicPr>
          <p:cNvPr id="9" name="Image 2" descr="F:\Commercial Project\pptx generator\pptx generator\uploads\img_sess-msxx5sog-8qty6is_2d24f991-4f83-45af-844a-5054ee0e0128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955280" y="1188720"/>
            <a:ext cx="3474720" cy="29260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955280" y="41605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অল্প সংখ্যক গবাদিপশুর জন্য উপযুক্ত</a:t>
            </a:r>
            <a:endParaRPr lang="en-US" sz="1000" dirty="0"/>
          </a:p>
        </p:txBody>
      </p:sp>
      <p:pic>
        <p:nvPicPr>
          <p:cNvPr id="11" name="Image 3" descr="F:\Commercial Project\pptx generator\pptx generator\uploads\img_sess-msxx5sog-8qty6is_b13aa4f8-968f-4c6b-bc0f-f6d2983aeaf1.jp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7200" y="4389120"/>
            <a:ext cx="3474720" cy="23774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7200" y="681228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মুখোমুখি বা বহির্মুখী পদ্ধতি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82B3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দ্বি-সারি গোশালা ও দ্বি-তল আবাস (RDA পদ্ধতি)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5" name="Shape 3"/>
          <p:cNvSpPr/>
          <p:nvPr/>
        </p:nvSpPr>
        <p:spPr>
          <a:xfrm>
            <a:off x="-91440" y="-91440"/>
            <a:ext cx="1645920" cy="1645920"/>
          </a:xfrm>
          <a:prstGeom prst="rtTriangle">
            <a:avLst/>
          </a:prstGeom>
          <a:solidFill>
            <a:srgbClr val="00E676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10800000">
            <a:off x="10634472" y="5303520"/>
            <a:ext cx="1645920" cy="1645920"/>
          </a:xfrm>
          <a:prstGeom prst="rtTriangle">
            <a:avLst/>
          </a:prstGeom>
          <a:solidFill>
            <a:srgbClr val="1DE9B6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0" y="365760"/>
            <a:ext cx="457200" cy="457200"/>
          </a:xfrm>
          <a:prstGeom prst="ellipse">
            <a:avLst/>
          </a:prstGeom>
          <a:solidFill>
            <a:srgbClr val="1DE9B6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80160"/>
            <a:ext cx="3544824" cy="2560320"/>
          </a:xfrm>
          <a:prstGeom prst="roundRect">
            <a:avLst>
              <a:gd name="adj" fmla="val 3571"/>
            </a:avLst>
          </a:prstGeom>
          <a:solidFill>
            <a:srgbClr val="0B343B"/>
          </a:solidFill>
          <a:ln w="19050">
            <a:solidFill>
              <a:srgbClr val="1E5761"/>
            </a:solidFill>
            <a:prstDash val="solid"/>
          </a:ln>
          <a:effectLst>
            <a:outerShdw sx="100000" sy="100000" kx="0" ky="0" algn="bl" rotWithShape="0" blurRad="101600" dist="25400" dir="135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3544824" cy="548640"/>
          </a:xfrm>
          <a:prstGeom prst="rect">
            <a:avLst>
              <a:gd name="adj" fmla="val 16667"/>
            </a:avLst>
          </a:prstGeom>
          <a:solidFill>
            <a:srgbClr val="00E67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80160"/>
            <a:ext cx="3544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↔️  মুখোমুখি পদ্ধতি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32705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দু'সারি পশুর মাথা সামনাসামনি থাকে। মাঝখানে ১ মিটার (৩.৩ ফুট) চওড়া খাবার পরিবেশন রাস্তা থাকে। পরিচর্যা ও খাদ্য প্রদানে সুবিধাজনক।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22064" y="1280160"/>
            <a:ext cx="3544824" cy="2560320"/>
          </a:xfrm>
          <a:prstGeom prst="roundRect">
            <a:avLst>
              <a:gd name="adj" fmla="val 3571"/>
            </a:avLst>
          </a:prstGeom>
          <a:solidFill>
            <a:srgbClr val="0B343B"/>
          </a:solidFill>
          <a:ln w="19050">
            <a:solidFill>
              <a:srgbClr val="1E5761"/>
            </a:solidFill>
            <a:prstDash val="solid"/>
          </a:ln>
          <a:effectLst>
            <a:outerShdw sx="100000" sy="100000" kx="0" ky="0" algn="bl" rotWithShape="0" blurRad="101600" dist="25400" dir="135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22064" y="1280160"/>
            <a:ext cx="3544824" cy="548640"/>
          </a:xfrm>
          <a:prstGeom prst="rect">
            <a:avLst>
              <a:gd name="adj" fmla="val 16667"/>
            </a:avLst>
          </a:prstGeom>
          <a:solidFill>
            <a:srgbClr val="1DE9B6"/>
          </a:solidFill>
          <a:ln/>
        </p:spPr>
      </p:sp>
      <p:sp>
        <p:nvSpPr>
          <p:cNvPr id="14" name="Text 12"/>
          <p:cNvSpPr/>
          <p:nvPr/>
        </p:nvSpPr>
        <p:spPr>
          <a:xfrm>
            <a:off x="4322064" y="1280160"/>
            <a:ext cx="3544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🔄  বহির্মুখী পদ্ধতি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59224" y="1920240"/>
            <a:ext cx="32705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উভয় সারির পশুর লেজ মুখোমুখি এবং মাথা বাইরের দিকে থাকে। মাঝখানের সাধারণ পথ দিয়ে দুধ দোহন ও মলমূত্র পরিষ্কার সহজ হয়।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86928" y="1280160"/>
            <a:ext cx="3544824" cy="2560320"/>
          </a:xfrm>
          <a:prstGeom prst="roundRect">
            <a:avLst>
              <a:gd name="adj" fmla="val 3571"/>
            </a:avLst>
          </a:prstGeom>
          <a:solidFill>
            <a:srgbClr val="0B343B"/>
          </a:solidFill>
          <a:ln w="19050">
            <a:solidFill>
              <a:srgbClr val="1E5761"/>
            </a:solidFill>
            <a:prstDash val="solid"/>
          </a:ln>
          <a:effectLst>
            <a:outerShdw sx="100000" sy="100000" kx="0" ky="0" algn="bl" rotWithShape="0" blurRad="101600" dist="25400" dir="135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6928" y="1280160"/>
            <a:ext cx="3544824" cy="548640"/>
          </a:xfrm>
          <a:prstGeom prst="rect">
            <a:avLst>
              <a:gd name="adj" fmla="val 16667"/>
            </a:avLst>
          </a:prstGeom>
          <a:solidFill>
            <a:srgbClr val="00E676"/>
          </a:solidFill>
          <a:ln/>
        </p:spPr>
      </p:sp>
      <p:sp>
        <p:nvSpPr>
          <p:cNvPr id="18" name="Text 16"/>
          <p:cNvSpPr/>
          <p:nvPr/>
        </p:nvSpPr>
        <p:spPr>
          <a:xfrm>
            <a:off x="8186928" y="1280160"/>
            <a:ext cx="3544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🏢  দ্বি-তল আবাস (RDA)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4088" y="1920240"/>
            <a:ext cx="32705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বগুড়া পল্লী উন্নয়ন একাডেমি উদ্ভাবিত। পাকা দালানের নিচে বায়োগ্যাস প্লান্ট সংযুক্ত থাকে। সিঁড়ি কম ঢালযুক্ত এবং মেঝে খসখসে করা হয়।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-1828800" y="5669280"/>
            <a:ext cx="15544800" cy="137160"/>
          </a:xfrm>
          <a:prstGeom prst="rect">
            <a:avLst/>
          </a:prstGeom>
          <a:solidFill>
            <a:srgbClr val="1DE9B6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00000">
            <a:off x="-1828800" y="5943600"/>
            <a:ext cx="15544800" cy="54864"/>
          </a:xfrm>
          <a:prstGeom prst="rect">
            <a:avLst/>
          </a:prstGeom>
          <a:solidFill>
            <a:srgbClr val="00E67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152400" dist="50800" dir="162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584448" y="0"/>
            <a:ext cx="73152" cy="6858000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DE9B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০৩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389120" y="25603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পাঠ-৭: গরুর খাদ্য ব্যবস্থাপনা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389120" y="4114800"/>
            <a:ext cx="2743200" cy="73152"/>
          </a:xfrm>
          <a:prstGeom prst="rect">
            <a:avLst/>
          </a:prstGeom>
          <a:solidFill>
            <a:srgbClr val="1DE9B6"/>
          </a:solidFill>
          <a:ln/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82B3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গবাদিপশুর খাদ্যের শ্রেণিবিভাগ ও প্রয়োজনীয়তা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1097280"/>
            <a:ext cx="3819144" cy="5486400"/>
          </a:xfrm>
          <a:prstGeom prst="rect">
            <a:avLst/>
          </a:prstGeom>
          <a:solidFill>
            <a:srgbClr val="082B30"/>
          </a:solidFill>
          <a:ln/>
        </p:spPr>
      </p:sp>
      <p:sp>
        <p:nvSpPr>
          <p:cNvPr id="6" name="Shape 4"/>
          <p:cNvSpPr/>
          <p:nvPr/>
        </p:nvSpPr>
        <p:spPr>
          <a:xfrm>
            <a:off x="182880" y="1097280"/>
            <a:ext cx="3819144" cy="73152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097280"/>
            <a:ext cx="3819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🌾  আঁশ জাতীয় খাদ্য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3453384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খড় ও শুকনো ঘাস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কাঁচা সবুজ ঘাস (নেপিয়ার, পারা)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গাছের সবুজ পাতা ও লতাগুল্ম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হে ও সাইলেজ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184904" y="1097280"/>
            <a:ext cx="3819144" cy="5486400"/>
          </a:xfrm>
          <a:prstGeom prst="rect">
            <a:avLst/>
          </a:prstGeom>
          <a:solidFill>
            <a:srgbClr val="104751"/>
          </a:solidFill>
          <a:ln/>
        </p:spPr>
      </p:sp>
      <p:sp>
        <p:nvSpPr>
          <p:cNvPr id="10" name="Shape 8"/>
          <p:cNvSpPr/>
          <p:nvPr/>
        </p:nvSpPr>
        <p:spPr>
          <a:xfrm>
            <a:off x="4184904" y="1097280"/>
            <a:ext cx="3819144" cy="731520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11" name="Text 9"/>
          <p:cNvSpPr/>
          <p:nvPr/>
        </p:nvSpPr>
        <p:spPr>
          <a:xfrm>
            <a:off x="4184904" y="1097280"/>
            <a:ext cx="3819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🥣  দানাদার খাদ্য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367784" y="2011680"/>
            <a:ext cx="3453384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গমের ভুষি ও চালের কুঁড়া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ডাল ভাঙা ও বিভিন্ন খৈল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খনিজ মিশ্রণ ও খাবার লবণ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চিটাগুড় ও প্রোটিন সম্পূরক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86928" y="1097280"/>
            <a:ext cx="3819144" cy="5486400"/>
          </a:xfrm>
          <a:prstGeom prst="rect">
            <a:avLst/>
          </a:prstGeom>
          <a:solidFill>
            <a:srgbClr val="082B30"/>
          </a:solidFill>
          <a:ln/>
        </p:spPr>
      </p:sp>
      <p:sp>
        <p:nvSpPr>
          <p:cNvPr id="14" name="Shape 12"/>
          <p:cNvSpPr/>
          <p:nvPr/>
        </p:nvSpPr>
        <p:spPr>
          <a:xfrm>
            <a:off x="8186928" y="1097280"/>
            <a:ext cx="3819144" cy="731520"/>
          </a:xfrm>
          <a:prstGeom prst="rect">
            <a:avLst/>
          </a:prstGeom>
          <a:solidFill>
            <a:srgbClr val="082B30"/>
          </a:solidFill>
          <a:ln/>
        </p:spPr>
      </p:sp>
      <p:sp>
        <p:nvSpPr>
          <p:cNvPr id="15" name="Text 13"/>
          <p:cNvSpPr/>
          <p:nvPr/>
        </p:nvSpPr>
        <p:spPr>
          <a:xfrm>
            <a:off x="8186928" y="1097280"/>
            <a:ext cx="3819144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⚖️  সুষম খাদ্যের উপাদান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369808" y="2011680"/>
            <a:ext cx="3453384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আমিষ (Proteins)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শর্করা (Carbohydrates)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স্নেহপদার্থ (Fats)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ভিটামিন ও প্রয়োজনীয় খনিজ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82B3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আঁশযুক্ত খাদ্য ও সবুজ ঘাসের প্রয়োজনীয়তা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80160"/>
            <a:ext cx="548640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খড়: দৈনিক ২-৩ কেজি শুকনো খড় খাওয়াতে হয়। চিটাগুড় বা ইউরিয়া মিশিয়ে পুষ্টিমান বহুগুণ বাড়ানো যায়।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সবুজ কাঁচা ঘাস: গবাদিপশুর প্রধান খাদ্য। দেশি গরুর জন্য দৈনিক ৮-১০ কেজি এবং উন্নত জাতের জন্য ১২-১৫ কেজি প্রয়োজন।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উন্নত জাতের ঘাস: নেপিয়ার, পারা, জার্মান, ভুট্টা, ওটস, কাউপি ইত্যাদি অত্যন্ত পুষ্টিকর।</a:t>
            </a:r>
            <a:endParaRPr lang="en-US" sz="18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●"/>
            </a:pPr>
            <a:r>
              <a:rPr lang="en-US" sz="18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সবুজ পাতা: ইপিল-ইপিল, কাঁঠাল, ধইঞ্চার পাতা এবং কচুরিপানা পুষ্টিকর খাদ্য হিসেবে ব্যবহৃত হয়।</a:t>
            </a:r>
            <a:endParaRPr lang="en-US" sz="1800" dirty="0"/>
          </a:p>
        </p:txBody>
      </p:sp>
      <p:pic>
        <p:nvPicPr>
          <p:cNvPr id="6" name="Image 0" descr="F:\Commercial Project\pptx generator\pptx generator\uploads\img_sess-msxx5sog-8qty6is_4269844d-133b-4310-9cac-5ed371705a6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1280160"/>
            <a:ext cx="5486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82B3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দানাদার খাদ্যের দৈনিক চাহিদা ও আদর্শ মিশ্রণ তালিকা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3758184" cy="640080"/>
          </a:xfrm>
          <a:prstGeom prst="rect">
            <a:avLst/>
          </a:prstGeom>
          <a:solidFill>
            <a:srgbClr val="00E676"/>
          </a:solidFill>
          <a:ln w="12700">
            <a:solidFill>
              <a:srgbClr val="1E5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3758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পশুর ধরন / উপাদান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215384" y="1280160"/>
            <a:ext cx="3758184" cy="640080"/>
          </a:xfrm>
          <a:prstGeom prst="rect">
            <a:avLst/>
          </a:prstGeom>
          <a:solidFill>
            <a:srgbClr val="00E676"/>
          </a:solidFill>
          <a:ln w="12700">
            <a:solidFill>
              <a:srgbClr val="1E5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15384" y="1280160"/>
            <a:ext cx="3758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দৈনিক পরিমাণ / ১০ কেজির মিশ্রণ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973568" y="1280160"/>
            <a:ext cx="3758184" cy="640080"/>
          </a:xfrm>
          <a:prstGeom prst="rect">
            <a:avLst/>
          </a:prstGeom>
          <a:solidFill>
            <a:srgbClr val="00E676"/>
          </a:solidFill>
          <a:ln w="12700">
            <a:solidFill>
              <a:srgbClr val="1E5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73568" y="1280160"/>
            <a:ext cx="37581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গুরুত্বপূর্ণ নির্দেশনা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1920240"/>
            <a:ext cx="3758184" cy="594360"/>
          </a:xfrm>
          <a:prstGeom prst="rect">
            <a:avLst/>
          </a:prstGeom>
          <a:solidFill>
            <a:srgbClr val="0B343B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2024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১. বাড়ন্ত বাছুর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15384" y="1920240"/>
            <a:ext cx="3758184" cy="594360"/>
          </a:xfrm>
          <a:prstGeom prst="rect">
            <a:avLst/>
          </a:prstGeom>
          <a:solidFill>
            <a:srgbClr val="0B343B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52544" y="192024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০.৫০ - ০.৮ কেজি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73568" y="1920240"/>
            <a:ext cx="3758184" cy="594360"/>
          </a:xfrm>
          <a:prstGeom prst="rect">
            <a:avLst/>
          </a:prstGeom>
          <a:solidFill>
            <a:srgbClr val="0B343B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10728" y="192024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হাড় ও মাংসপেশির বৃদ্ধির জন্য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2514600"/>
            <a:ext cx="3758184" cy="594360"/>
          </a:xfrm>
          <a:prstGeom prst="rect">
            <a:avLst/>
          </a:prstGeom>
          <a:solidFill>
            <a:srgbClr val="082B30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51460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২. দেশি দুগ্ধবতী গাভি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15384" y="2514600"/>
            <a:ext cx="3758184" cy="594360"/>
          </a:xfrm>
          <a:prstGeom prst="rect">
            <a:avLst/>
          </a:prstGeom>
          <a:solidFill>
            <a:srgbClr val="082B30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52544" y="251460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১.৫ - ২.০ কেজি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973568" y="2514600"/>
            <a:ext cx="3758184" cy="594360"/>
          </a:xfrm>
          <a:prstGeom prst="rect">
            <a:avLst/>
          </a:prstGeom>
          <a:solidFill>
            <a:srgbClr val="082B30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10728" y="251460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প্রতিদিন দুধ উৎপাদনের অনুপাতে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57200" y="3108960"/>
            <a:ext cx="3758184" cy="594360"/>
          </a:xfrm>
          <a:prstGeom prst="rect">
            <a:avLst/>
          </a:prstGeom>
          <a:solidFill>
            <a:srgbClr val="0B343B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10896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৩. উন্নত দুগ্ধবতী গাভি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215384" y="3108960"/>
            <a:ext cx="3758184" cy="594360"/>
          </a:xfrm>
          <a:prstGeom prst="rect">
            <a:avLst/>
          </a:prstGeom>
          <a:solidFill>
            <a:srgbClr val="0B343B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52544" y="310896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৩.০ - ৪.৫ কেজি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973568" y="3108960"/>
            <a:ext cx="3758184" cy="594360"/>
          </a:xfrm>
          <a:prstGeom prst="rect">
            <a:avLst/>
          </a:prstGeom>
          <a:solidFill>
            <a:srgbClr val="0B343B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10728" y="310896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উচ্চ দুধ ও শারীরিক সক্ষমতা রক্ষায়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57200" y="3703320"/>
            <a:ext cx="3758184" cy="594360"/>
          </a:xfrm>
          <a:prstGeom prst="rect">
            <a:avLst/>
          </a:prstGeom>
          <a:solidFill>
            <a:srgbClr val="082B30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370332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৪. প্রজনন ষাঁড়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215384" y="3703320"/>
            <a:ext cx="3758184" cy="594360"/>
          </a:xfrm>
          <a:prstGeom prst="rect">
            <a:avLst/>
          </a:prstGeom>
          <a:solidFill>
            <a:srgbClr val="082B30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52544" y="370332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৩.০ - ৩.৫ কেজি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973568" y="3703320"/>
            <a:ext cx="3758184" cy="594360"/>
          </a:xfrm>
          <a:prstGeom prst="rect">
            <a:avLst/>
          </a:prstGeom>
          <a:solidFill>
            <a:srgbClr val="082B30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110728" y="370332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বীর্য উৎপাদন ও বীর্যমান বজায় রাখতে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7200" y="4297680"/>
            <a:ext cx="3758184" cy="594360"/>
          </a:xfrm>
          <a:prstGeom prst="rect">
            <a:avLst/>
          </a:prstGeom>
          <a:solidFill>
            <a:srgbClr val="0B343B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429768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গমের ভুষি ও চালের কুঁড়া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215384" y="4297680"/>
            <a:ext cx="3758184" cy="594360"/>
          </a:xfrm>
          <a:prstGeom prst="rect">
            <a:avLst/>
          </a:prstGeom>
          <a:solidFill>
            <a:srgbClr val="0B343B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52544" y="429768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৫.০ কেজি + ২.০ কেজি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7973568" y="4297680"/>
            <a:ext cx="3758184" cy="594360"/>
          </a:xfrm>
          <a:prstGeom prst="rect">
            <a:avLst/>
          </a:prstGeom>
          <a:solidFill>
            <a:srgbClr val="0B343B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110728" y="429768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প্রধান শক্তির উৎস (কার্বোহাইড্রেট)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457200" y="4892040"/>
            <a:ext cx="3758184" cy="594360"/>
          </a:xfrm>
          <a:prstGeom prst="rect">
            <a:avLst/>
          </a:prstGeom>
          <a:solidFill>
            <a:srgbClr val="082B30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" y="489204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ডাল ভাঙা ও সরিষার খৈল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4215384" y="4892040"/>
            <a:ext cx="3758184" cy="594360"/>
          </a:xfrm>
          <a:prstGeom prst="rect">
            <a:avLst/>
          </a:prstGeom>
          <a:solidFill>
            <a:srgbClr val="082B30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52544" y="489204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১.৬ কেজি + ১.২ কেজি</a:t>
            </a: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7973568" y="4892040"/>
            <a:ext cx="3758184" cy="594360"/>
          </a:xfrm>
          <a:prstGeom prst="rect">
            <a:avLst/>
          </a:prstGeom>
          <a:solidFill>
            <a:srgbClr val="082B30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110728" y="489204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আমিষ বা প্রোটিনের প্রধান উৎস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457200" y="5486400"/>
            <a:ext cx="3758184" cy="594360"/>
          </a:xfrm>
          <a:prstGeom prst="rect">
            <a:avLst/>
          </a:prstGeom>
          <a:solidFill>
            <a:srgbClr val="0B343B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548640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খনিজ মিশ্রণ ও খাবার লবণ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4215384" y="5486400"/>
            <a:ext cx="3758184" cy="594360"/>
          </a:xfrm>
          <a:prstGeom prst="rect">
            <a:avLst/>
          </a:prstGeom>
          <a:solidFill>
            <a:srgbClr val="0B343B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352544" y="548640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১০০ গ্রাম + ১০০ গ্রাম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7973568" y="5486400"/>
            <a:ext cx="3758184" cy="594360"/>
          </a:xfrm>
          <a:prstGeom prst="rect">
            <a:avLst/>
          </a:prstGeom>
          <a:solidFill>
            <a:srgbClr val="0B343B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110728" y="548640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হরমোন, এনজাইম ও শারীরিক ভারসাম্য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57200" y="6080760"/>
            <a:ext cx="3758184" cy="594360"/>
          </a:xfrm>
          <a:prstGeom prst="rect">
            <a:avLst/>
          </a:prstGeom>
          <a:solidFill>
            <a:srgbClr val="082B30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608076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পানি সরবরাহ নিয়ম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4215384" y="6080760"/>
            <a:ext cx="3758184" cy="594360"/>
          </a:xfrm>
          <a:prstGeom prst="rect">
            <a:avLst/>
          </a:prstGeom>
          <a:solidFill>
            <a:srgbClr val="082B30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52544" y="608076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১ লিটার দুধে ৪ লিটার পানি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7973568" y="6080760"/>
            <a:ext cx="3758184" cy="594360"/>
          </a:xfrm>
          <a:prstGeom prst="rect">
            <a:avLst/>
          </a:prstGeom>
          <a:solidFill>
            <a:srgbClr val="082B30"/>
          </a:solidFill>
          <a:ln w="6350">
            <a:solidFill>
              <a:srgbClr val="1E576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10728" y="6080760"/>
            <a:ext cx="348386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পর্যাপ্ত পানি দিলে ২০% দুধ বৃদ্ধি পায়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-1828800" y="5669280"/>
            <a:ext cx="15544800" cy="137160"/>
          </a:xfrm>
          <a:prstGeom prst="rect">
            <a:avLst/>
          </a:prstGeom>
          <a:solidFill>
            <a:srgbClr val="1DE9B6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00000">
            <a:off x="-1828800" y="5943600"/>
            <a:ext cx="15544800" cy="54864"/>
          </a:xfrm>
          <a:prstGeom prst="rect">
            <a:avLst/>
          </a:prstGeom>
          <a:solidFill>
            <a:srgbClr val="00E67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152400" dist="50800" dir="162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584448" y="0"/>
            <a:ext cx="73152" cy="6858000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DE9B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০৪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389120" y="25603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পাঠ-৮: কাঁচা ঘাস সংরক্ষণ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389120" y="4114800"/>
            <a:ext cx="2743200" cy="73152"/>
          </a:xfrm>
          <a:prstGeom prst="rect">
            <a:avLst/>
          </a:prstGeom>
          <a:solidFill>
            <a:srgbClr val="1DE9B6"/>
          </a:solidFill>
          <a:ln/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82B3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ঘাসের প্রকারভেদ ও সংরক্ষণের প্রয়োজনীয়তা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5" name="Shape 3"/>
          <p:cNvSpPr/>
          <p:nvPr/>
        </p:nvSpPr>
        <p:spPr>
          <a:xfrm>
            <a:off x="-91440" y="-91440"/>
            <a:ext cx="1645920" cy="1645920"/>
          </a:xfrm>
          <a:prstGeom prst="rtTriangle">
            <a:avLst/>
          </a:prstGeom>
          <a:solidFill>
            <a:srgbClr val="00E676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10800000">
            <a:off x="10634472" y="5303520"/>
            <a:ext cx="1645920" cy="1645920"/>
          </a:xfrm>
          <a:prstGeom prst="rtTriangle">
            <a:avLst/>
          </a:prstGeom>
          <a:solidFill>
            <a:srgbClr val="1DE9B6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0" y="365760"/>
            <a:ext cx="457200" cy="457200"/>
          </a:xfrm>
          <a:prstGeom prst="ellipse">
            <a:avLst/>
          </a:prstGeom>
          <a:solidFill>
            <a:srgbClr val="1DE9B6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280160"/>
            <a:ext cx="3544824" cy="2560320"/>
          </a:xfrm>
          <a:prstGeom prst="roundRect">
            <a:avLst>
              <a:gd name="adj" fmla="val 3571"/>
            </a:avLst>
          </a:prstGeom>
          <a:solidFill>
            <a:srgbClr val="0B343B"/>
          </a:solidFill>
          <a:ln w="19050">
            <a:solidFill>
              <a:srgbClr val="1E5761"/>
            </a:solidFill>
            <a:prstDash val="solid"/>
          </a:ln>
          <a:effectLst>
            <a:outerShdw sx="100000" sy="100000" kx="0" ky="0" algn="bl" rotWithShape="0" blurRad="101600" dist="25400" dir="135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280160"/>
            <a:ext cx="3544824" cy="548640"/>
          </a:xfrm>
          <a:prstGeom prst="rect">
            <a:avLst>
              <a:gd name="adj" fmla="val 16667"/>
            </a:avLst>
          </a:prstGeom>
          <a:solidFill>
            <a:srgbClr val="00E676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280160"/>
            <a:ext cx="3544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☀️  গ্রীষ্মকালীন ঘাস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32705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স্থায়ী ঘাস: নেপিয়ার, পারা, জার্মান, গিনি, পেংগোলা। অস্থায়ী ঘাস: সরগম, ভুট্টা ও বাকশা। বর্ষাকালে প্রচুর উৎপন্ন হয়।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22064" y="1280160"/>
            <a:ext cx="3544824" cy="2560320"/>
          </a:xfrm>
          <a:prstGeom prst="roundRect">
            <a:avLst>
              <a:gd name="adj" fmla="val 3571"/>
            </a:avLst>
          </a:prstGeom>
          <a:solidFill>
            <a:srgbClr val="0B343B"/>
          </a:solidFill>
          <a:ln w="19050">
            <a:solidFill>
              <a:srgbClr val="1E5761"/>
            </a:solidFill>
            <a:prstDash val="solid"/>
          </a:ln>
          <a:effectLst>
            <a:outerShdw sx="100000" sy="100000" kx="0" ky="0" algn="bl" rotWithShape="0" blurRad="101600" dist="25400" dir="135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22064" y="1280160"/>
            <a:ext cx="3544824" cy="548640"/>
          </a:xfrm>
          <a:prstGeom prst="rect">
            <a:avLst>
              <a:gd name="adj" fmla="val 16667"/>
            </a:avLst>
          </a:prstGeom>
          <a:solidFill>
            <a:srgbClr val="1DE9B6"/>
          </a:solidFill>
          <a:ln/>
        </p:spPr>
      </p:sp>
      <p:sp>
        <p:nvSpPr>
          <p:cNvPr id="14" name="Text 12"/>
          <p:cNvSpPr/>
          <p:nvPr/>
        </p:nvSpPr>
        <p:spPr>
          <a:xfrm>
            <a:off x="4322064" y="1280160"/>
            <a:ext cx="3544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❄️  শীতকালীন ও শুঁটিজাতীয়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459224" y="1920240"/>
            <a:ext cx="32705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শীতকালীন ঘাস: কাউপি, মাসকলাই, বারশিম, খেসারি। শুঁটিজাতীয় ঘাস: সেন্ট্রোসিমা, স্টাইলো, ডেসমোডিয়াম ও কাউপি।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86928" y="1280160"/>
            <a:ext cx="3544824" cy="2560320"/>
          </a:xfrm>
          <a:prstGeom prst="roundRect">
            <a:avLst>
              <a:gd name="adj" fmla="val 3571"/>
            </a:avLst>
          </a:prstGeom>
          <a:solidFill>
            <a:srgbClr val="0B343B"/>
          </a:solidFill>
          <a:ln w="19050">
            <a:solidFill>
              <a:srgbClr val="1E5761"/>
            </a:solidFill>
            <a:prstDash val="solid"/>
          </a:ln>
          <a:effectLst>
            <a:outerShdw sx="100000" sy="100000" kx="0" ky="0" algn="bl" rotWithShape="0" blurRad="101600" dist="25400" dir="135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86928" y="1280160"/>
            <a:ext cx="3544824" cy="548640"/>
          </a:xfrm>
          <a:prstGeom prst="rect">
            <a:avLst>
              <a:gd name="adj" fmla="val 16667"/>
            </a:avLst>
          </a:prstGeom>
          <a:solidFill>
            <a:srgbClr val="00E676"/>
          </a:solidFill>
          <a:ln/>
        </p:spPr>
      </p:sp>
      <p:sp>
        <p:nvSpPr>
          <p:cNvPr id="18" name="Text 16"/>
          <p:cNvSpPr/>
          <p:nvPr/>
        </p:nvSpPr>
        <p:spPr>
          <a:xfrm>
            <a:off x="8186928" y="1280160"/>
            <a:ext cx="354482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🛡️  সংরক্ষণের প্রয়োজনীয়তা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4088" y="1920240"/>
            <a:ext cx="32705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অভাবের সময় (খরা/বন্যা) পুষ্টিকর ঘাস সরবরাহ নিশ্চিত করা, অপচয় রোধ এবং রোগজীবাণু থেকে খাদ্যমান অক্ষুণ্ণ রাখা।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82B3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ঘাস সংরক্ষণ প্রযুক্তি: হে বনাম সাইলেজ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0B343B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00E67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990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১. হে (Hay) তৈরির নিয়ম ও সাবধানতা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সংজ্ঞা: সবুজ ঘাসে ফুল আসার সময় কেটে রোদে শুকিয়ে প্রস্তুতকৃত খাদ্য (আর্দ্রতা ১৫-২০%, শুষ্ক পদার্থ ৮০-৮৫%)।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উপযুক্ত ঘাস: বারশিম, লুসার্ন, খেসারি, ওটস, যব, কাউপি।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প্রস্তুত প্রণালি: রোদ ওঠার পর ঘাস কেটে ২-৩ দিন রোদে শুকিয়ে আর্দ্রতা ১৫%-এ নামিয়ে শুষ্ক স্থানে গাঁট বেঁধে সংরক্ষণ করা হয়।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সতর্কতা: ঘাসের পাতা যেন ঝরে না পড়ে, বৃষ্টিতে ভেজানো যাবে না।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0B343B"/>
          </a:solidFill>
          <a:ln w="19050">
            <a:solidFill>
              <a:srgbClr val="1DE9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37160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1DE9B6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3990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২. সাইলেজ (Silage) তৈরির নিয়ম ও সাবধানতা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সংজ্ঞা: বায়ুরোধী সাইলোপিটে গাঁজন প্রক্রিয়ায় সংরক্ষিত রসালো সবুজ ঘাস। এতে উদ্বায়ী ফ্যাটি অ্যাসিড উৎপন্ন হয়ে ঘাসকে পচন থেকে রক্ষা করে।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উপযুক্ত ঘাস: ভুট্টা, জোয়ার, নেপিয়ার, গিনি (শর্করাযুক্ত)।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প্রস্তুত প্রণালি: ফুল আসার আগে নরম অবস্থায় ঘাস কেটে টুকরো করে চিটাগুড় মিশিয়ে স্তরে স্তরে ঠেসে বায়ুহীন করে পলিথিনে ঢেকে রাখা হয়।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-1828800" y="5669280"/>
            <a:ext cx="15544800" cy="137160"/>
          </a:xfrm>
          <a:prstGeom prst="rect">
            <a:avLst/>
          </a:prstGeom>
          <a:solidFill>
            <a:srgbClr val="1DE9B6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00000">
            <a:off x="-1828800" y="5943600"/>
            <a:ext cx="15544800" cy="54864"/>
          </a:xfrm>
          <a:prstGeom prst="rect">
            <a:avLst/>
          </a:prstGeom>
          <a:solidFill>
            <a:srgbClr val="00E67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152400" dist="50800" dir="162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584448" y="0"/>
            <a:ext cx="73152" cy="6858000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DE9B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০৫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389120" y="25603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পাঠ-৯ ও ১০: গরুর সংক্রামক রোগ ব্যবস্থাপনা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389120" y="4114800"/>
            <a:ext cx="2743200" cy="73152"/>
          </a:xfrm>
          <a:prstGeom prst="rect">
            <a:avLst/>
          </a:prstGeom>
          <a:solidFill>
            <a:srgbClr val="1DE9B6"/>
          </a:solidFill>
          <a:ln/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82B3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গরুর ভাইরাসজনিত সংক্রামক রোগ ও লক্ষণ-প্রতিকার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5" name="Shape 3"/>
          <p:cNvSpPr/>
          <p:nvPr/>
        </p:nvSpPr>
        <p:spPr>
          <a:xfrm>
            <a:off x="-91440" y="-91440"/>
            <a:ext cx="1645920" cy="1645920"/>
          </a:xfrm>
          <a:prstGeom prst="rtTriangle">
            <a:avLst/>
          </a:prstGeom>
          <a:solidFill>
            <a:srgbClr val="00E676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10800000">
            <a:off x="10634472" y="5303520"/>
            <a:ext cx="1645920" cy="1645920"/>
          </a:xfrm>
          <a:prstGeom prst="rtTriangle">
            <a:avLst/>
          </a:prstGeom>
          <a:solidFill>
            <a:srgbClr val="1DE9B6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0" y="365760"/>
            <a:ext cx="457200" cy="457200"/>
          </a:xfrm>
          <a:prstGeom prst="ellipse">
            <a:avLst/>
          </a:prstGeom>
          <a:solidFill>
            <a:srgbClr val="1DE9B6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969264"/>
            <a:ext cx="3621024" cy="5522976"/>
          </a:xfrm>
          <a:prstGeom prst="roundRect">
            <a:avLst>
              <a:gd name="adj" fmla="val 2525"/>
            </a:avLst>
          </a:prstGeom>
          <a:solidFill>
            <a:srgbClr val="0B343B"/>
          </a:solidFill>
          <a:ln w="12700">
            <a:solidFill>
              <a:srgbClr val="1E5761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69264"/>
            <a:ext cx="3621024" cy="530352"/>
          </a:xfrm>
          <a:prstGeom prst="roundRect">
            <a:avLst>
              <a:gd name="adj" fmla="val 17241"/>
            </a:avLst>
          </a:prstGeom>
          <a:solidFill>
            <a:srgbClr val="00E67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335024"/>
            <a:ext cx="3621024" cy="164592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" y="107899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ক্ষুরারোগ (FMD)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" y="1618488"/>
            <a:ext cx="3383280" cy="1919097"/>
          </a:xfrm>
          <a:prstGeom prst="roundRect">
            <a:avLst>
              <a:gd name="adj" fmla="val 2382"/>
            </a:avLst>
          </a:prstGeom>
          <a:solidFill>
            <a:srgbClr val="082B30"/>
          </a:solidFill>
          <a:ln w="13970">
            <a:solidFill>
              <a:srgbClr val="00E676"/>
            </a:solidFill>
            <a:prstDash val="solid"/>
          </a:ln>
        </p:spPr>
      </p:sp>
      <p:pic>
        <p:nvPicPr>
          <p:cNvPr id="13" name="Image 0" descr="F:\Commercial Project\pptx generator\pptx generator\uploads\img_sess-msxx5sog-8qty6is_2c70b1ec-6911-4432-b204-514fba4677b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636776"/>
            <a:ext cx="3346704" cy="1882521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76656" y="1700784"/>
            <a:ext cx="384048" cy="384048"/>
          </a:xfrm>
          <a:prstGeom prst="ellipse">
            <a:avLst/>
          </a:prstGeom>
          <a:solidFill>
            <a:srgbClr val="0B343B"/>
          </a:solidFill>
          <a:ln w="13970">
            <a:solidFill>
              <a:srgbClr val="00E67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" y="176479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0080" y="3694176"/>
            <a:ext cx="3255264" cy="0"/>
          </a:xfrm>
          <a:prstGeom prst="line">
            <a:avLst/>
          </a:prstGeom>
          <a:noFill/>
          <a:ln w="10160">
            <a:solidFill>
              <a:srgbClr val="1E576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" y="3867912"/>
            <a:ext cx="54864" cy="23774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" y="386791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67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SIGNS &amp; SYMPTOMS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31520" y="4187952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১০৩°-১০৭° ফারেনহাইট তীব্র জ্বর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মুখ ও নাক দিয়ে লালা ঝরা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জিহ্বা, মুখ ও ক্ষুরে ফোস্কা ও ঘা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ওলান ফুলে যাওয়া ও দুধ কমে যাওয়া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640080" y="5102352"/>
            <a:ext cx="3255264" cy="0"/>
          </a:xfrm>
          <a:prstGeom prst="line">
            <a:avLst/>
          </a:prstGeom>
          <a:noFill/>
          <a:ln w="8255">
            <a:solidFill>
              <a:srgbClr val="1E576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5294376"/>
            <a:ext cx="54864" cy="237744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22" name="Text 19"/>
          <p:cNvSpPr/>
          <p:nvPr/>
        </p:nvSpPr>
        <p:spPr>
          <a:xfrm>
            <a:off x="786384" y="529437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E9B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PREVENTION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31520" y="5614416"/>
            <a:ext cx="3108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সুস্থ পশুকে নিয়মিত এফএমডি টিকা দেওয়া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৩% আইওসান দ্রবণ দিয়ে ক্ষত ধৌত করা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আক্রান্ত পশুকে নরম খাদ্য সরবরাহ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ফার্মে কঠোর বায়োসিকিউরিটি বজায় রাখা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4283964" y="969264"/>
            <a:ext cx="3621024" cy="5522976"/>
          </a:xfrm>
          <a:prstGeom prst="roundRect">
            <a:avLst>
              <a:gd name="adj" fmla="val 2525"/>
            </a:avLst>
          </a:prstGeom>
          <a:solidFill>
            <a:srgbClr val="0B343B"/>
          </a:solidFill>
          <a:ln w="12700">
            <a:solidFill>
              <a:srgbClr val="1E5761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283964" y="969264"/>
            <a:ext cx="3621024" cy="530352"/>
          </a:xfrm>
          <a:prstGeom prst="roundRect">
            <a:avLst>
              <a:gd name="adj" fmla="val 17241"/>
            </a:avLst>
          </a:prstGeom>
          <a:solidFill>
            <a:srgbClr val="1DE9B6"/>
          </a:solidFill>
          <a:ln/>
        </p:spPr>
      </p:sp>
      <p:sp>
        <p:nvSpPr>
          <p:cNvPr id="26" name="Shape 23"/>
          <p:cNvSpPr/>
          <p:nvPr/>
        </p:nvSpPr>
        <p:spPr>
          <a:xfrm>
            <a:off x="4283964" y="1335024"/>
            <a:ext cx="3621024" cy="164592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27" name="Text 24"/>
          <p:cNvSpPr/>
          <p:nvPr/>
        </p:nvSpPr>
        <p:spPr>
          <a:xfrm>
            <a:off x="4430268" y="107899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গোবসন্ত / রিন্ডারপেস্ট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402836" y="1618488"/>
            <a:ext cx="3383280" cy="1919097"/>
          </a:xfrm>
          <a:prstGeom prst="roundRect">
            <a:avLst>
              <a:gd name="adj" fmla="val 2382"/>
            </a:avLst>
          </a:prstGeom>
          <a:solidFill>
            <a:srgbClr val="082B30"/>
          </a:solidFill>
          <a:ln w="13970">
            <a:solidFill>
              <a:srgbClr val="1DE9B6"/>
            </a:solidFill>
            <a:prstDash val="solid"/>
          </a:ln>
        </p:spPr>
      </p:sp>
      <p:pic>
        <p:nvPicPr>
          <p:cNvPr id="29" name="Image 1" descr="F:\Commercial Project\pptx generator\pptx generator\uploads\img_sess-msxx5sog-8qty6is_efacf8f3-aa3c-4e16-9647-8e45f348149a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21124" y="1636776"/>
            <a:ext cx="3346704" cy="1882521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4503420" y="1700784"/>
            <a:ext cx="384048" cy="384048"/>
          </a:xfrm>
          <a:prstGeom prst="ellipse">
            <a:avLst/>
          </a:prstGeom>
          <a:solidFill>
            <a:srgbClr val="0B343B"/>
          </a:solidFill>
          <a:ln w="13970">
            <a:solidFill>
              <a:srgbClr val="1DE9B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503420" y="176479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E9B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4466844" y="3694176"/>
            <a:ext cx="3255264" cy="0"/>
          </a:xfrm>
          <a:prstGeom prst="line">
            <a:avLst/>
          </a:prstGeom>
          <a:noFill/>
          <a:ln w="10160">
            <a:solidFill>
              <a:srgbClr val="1E576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485132" y="3867912"/>
            <a:ext cx="54864" cy="237744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34" name="Text 30"/>
          <p:cNvSpPr/>
          <p:nvPr/>
        </p:nvSpPr>
        <p:spPr>
          <a:xfrm>
            <a:off x="4613148" y="386791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E9B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SIGNS &amp; SYMPTOMS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4558284" y="4187952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১০৫°-১০৭° ফারেনহাইট উচ্চ জ্বর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নাক ও চোখ দিয়ে পুঁজমিশ্রিত স্রাব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মুখে ঘা ও দুর্গন্ধযুক্ত রক্তমিশ্রিত ডায়রিয়া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পানিশূন্যতায় ৭-১২ দিনে মৃত্যু হতে পারে</a:t>
            </a:r>
            <a:endParaRPr lang="en-US" sz="930" dirty="0"/>
          </a:p>
        </p:txBody>
      </p:sp>
      <p:sp>
        <p:nvSpPr>
          <p:cNvPr id="36" name="Shape 32"/>
          <p:cNvSpPr/>
          <p:nvPr/>
        </p:nvSpPr>
        <p:spPr>
          <a:xfrm>
            <a:off x="4466844" y="5102352"/>
            <a:ext cx="3255264" cy="0"/>
          </a:xfrm>
          <a:prstGeom prst="line">
            <a:avLst/>
          </a:prstGeom>
          <a:noFill/>
          <a:ln w="8255">
            <a:solidFill>
              <a:srgbClr val="1E5761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485132" y="5294376"/>
            <a:ext cx="54864" cy="237744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38" name="Text 34"/>
          <p:cNvSpPr/>
          <p:nvPr/>
        </p:nvSpPr>
        <p:spPr>
          <a:xfrm>
            <a:off x="4613148" y="529437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E9B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PREVENTION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4558284" y="5614416"/>
            <a:ext cx="3108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প্রতিষেধক টিকা সময়মতো প্রদান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পটাশ পারম্যাঙ্গানেট দিয়ে মুখ পরিষ্কার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অ্যান্টিবায়োটিক ও তরল স্যালাইন দেওয়া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মৃত পশু মাটিতে চুনসহ পুঁতে ফেলা</a:t>
            </a:r>
            <a:endParaRPr lang="en-US" sz="930" dirty="0"/>
          </a:p>
        </p:txBody>
      </p:sp>
      <p:sp>
        <p:nvSpPr>
          <p:cNvPr id="40" name="Shape 36"/>
          <p:cNvSpPr/>
          <p:nvPr/>
        </p:nvSpPr>
        <p:spPr>
          <a:xfrm>
            <a:off x="8110728" y="969264"/>
            <a:ext cx="3621024" cy="5522976"/>
          </a:xfrm>
          <a:prstGeom prst="roundRect">
            <a:avLst>
              <a:gd name="adj" fmla="val 2525"/>
            </a:avLst>
          </a:prstGeom>
          <a:solidFill>
            <a:srgbClr val="0B343B"/>
          </a:solidFill>
          <a:ln w="12700">
            <a:solidFill>
              <a:srgbClr val="1E5761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6000"/>
              </a:srgbClr>
            </a:outerShdw>
          </a:effectLst>
        </p:spPr>
      </p:sp>
      <p:sp>
        <p:nvSpPr>
          <p:cNvPr id="41" name="Shape 37"/>
          <p:cNvSpPr/>
          <p:nvPr/>
        </p:nvSpPr>
        <p:spPr>
          <a:xfrm>
            <a:off x="8110728" y="969264"/>
            <a:ext cx="3621024" cy="530352"/>
          </a:xfrm>
          <a:prstGeom prst="roundRect">
            <a:avLst>
              <a:gd name="adj" fmla="val 17241"/>
            </a:avLst>
          </a:prstGeom>
          <a:solidFill>
            <a:srgbClr val="1DE9B6"/>
          </a:solidFill>
          <a:ln/>
        </p:spPr>
      </p:sp>
      <p:sp>
        <p:nvSpPr>
          <p:cNvPr id="42" name="Shape 38"/>
          <p:cNvSpPr/>
          <p:nvPr/>
        </p:nvSpPr>
        <p:spPr>
          <a:xfrm>
            <a:off x="8110728" y="1335024"/>
            <a:ext cx="3621024" cy="164592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43" name="Text 39"/>
          <p:cNvSpPr/>
          <p:nvPr/>
        </p:nvSpPr>
        <p:spPr>
          <a:xfrm>
            <a:off x="8257032" y="107899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জলাতঙ্ক রোগ (Rabies)</a:t>
            </a:r>
            <a:endParaRPr lang="en-US" sz="1300" dirty="0"/>
          </a:p>
        </p:txBody>
      </p:sp>
      <p:sp>
        <p:nvSpPr>
          <p:cNvPr id="44" name="Shape 40"/>
          <p:cNvSpPr/>
          <p:nvPr/>
        </p:nvSpPr>
        <p:spPr>
          <a:xfrm>
            <a:off x="8229600" y="1618488"/>
            <a:ext cx="3383280" cy="1919097"/>
          </a:xfrm>
          <a:prstGeom prst="roundRect">
            <a:avLst>
              <a:gd name="adj" fmla="val 2382"/>
            </a:avLst>
          </a:prstGeom>
          <a:solidFill>
            <a:srgbClr val="082B30"/>
          </a:solidFill>
          <a:ln w="13970">
            <a:solidFill>
              <a:srgbClr val="1DE9B6"/>
            </a:solidFill>
            <a:prstDash val="solid"/>
          </a:ln>
        </p:spPr>
      </p:sp>
      <p:pic>
        <p:nvPicPr>
          <p:cNvPr id="45" name="Image 2" descr="F:\Commercial Project\pptx generator\pptx generator\uploads\img_sess-msxx5sog-8qty6is_9b56267d-1c51-45d2-81a2-6e41fb545b39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47888" y="1636776"/>
            <a:ext cx="3346704" cy="1882521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8330184" y="1700784"/>
            <a:ext cx="384048" cy="384048"/>
          </a:xfrm>
          <a:prstGeom prst="ellipse">
            <a:avLst/>
          </a:prstGeom>
          <a:solidFill>
            <a:srgbClr val="0B343B"/>
          </a:solidFill>
          <a:ln w="13970">
            <a:solidFill>
              <a:srgbClr val="1DE9B6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8330184" y="176479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E9B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</a:t>
            </a:r>
            <a:endParaRPr lang="en-US" sz="900" dirty="0"/>
          </a:p>
        </p:txBody>
      </p:sp>
      <p:sp>
        <p:nvSpPr>
          <p:cNvPr id="48" name="Shape 43"/>
          <p:cNvSpPr/>
          <p:nvPr/>
        </p:nvSpPr>
        <p:spPr>
          <a:xfrm>
            <a:off x="8293608" y="3694176"/>
            <a:ext cx="3255264" cy="0"/>
          </a:xfrm>
          <a:prstGeom prst="line">
            <a:avLst/>
          </a:prstGeom>
          <a:noFill/>
          <a:ln w="10160">
            <a:solidFill>
              <a:srgbClr val="1E5761"/>
            </a:solidFill>
            <a:prstDash val="solid"/>
          </a:ln>
        </p:spPr>
      </p:sp>
      <p:sp>
        <p:nvSpPr>
          <p:cNvPr id="49" name="Shape 44"/>
          <p:cNvSpPr/>
          <p:nvPr/>
        </p:nvSpPr>
        <p:spPr>
          <a:xfrm>
            <a:off x="8311896" y="3867912"/>
            <a:ext cx="54864" cy="237744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50" name="Text 45"/>
          <p:cNvSpPr/>
          <p:nvPr/>
        </p:nvSpPr>
        <p:spPr>
          <a:xfrm>
            <a:off x="8439912" y="386791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E9B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SIGNS &amp; SYMPTOMS</a:t>
            </a:r>
            <a:endParaRPr lang="en-US" sz="950" dirty="0"/>
          </a:p>
        </p:txBody>
      </p:sp>
      <p:sp>
        <p:nvSpPr>
          <p:cNvPr id="51" name="Text 46"/>
          <p:cNvSpPr/>
          <p:nvPr/>
        </p:nvSpPr>
        <p:spPr>
          <a:xfrm>
            <a:off x="8385048" y="4187952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পাগলাটে আচরণ ও অন্যকে আক্রমণ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গলার পক্ষাঘাত ও নিচের চোয়াল ঝুলে পড়া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প্রচণ্ড পানির পিপাসা কিন্তু গিলতে অক্ষমতা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মুখ দিয়ে অবিরাম ফেনা ও লালা ঝরা</a:t>
            </a:r>
            <a:endParaRPr lang="en-US" sz="930" dirty="0"/>
          </a:p>
        </p:txBody>
      </p:sp>
      <p:sp>
        <p:nvSpPr>
          <p:cNvPr id="52" name="Shape 47"/>
          <p:cNvSpPr/>
          <p:nvPr/>
        </p:nvSpPr>
        <p:spPr>
          <a:xfrm>
            <a:off x="8293608" y="5102352"/>
            <a:ext cx="3255264" cy="0"/>
          </a:xfrm>
          <a:prstGeom prst="line">
            <a:avLst/>
          </a:prstGeom>
          <a:noFill/>
          <a:ln w="8255">
            <a:solidFill>
              <a:srgbClr val="1E5761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8311896" y="5294376"/>
            <a:ext cx="54864" cy="237744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54" name="Text 49"/>
          <p:cNvSpPr/>
          <p:nvPr/>
        </p:nvSpPr>
        <p:spPr>
          <a:xfrm>
            <a:off x="8439912" y="529437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E9B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PREVENTION</a:t>
            </a:r>
            <a:endParaRPr lang="en-US" sz="950" dirty="0"/>
          </a:p>
        </p:txBody>
      </p:sp>
      <p:sp>
        <p:nvSpPr>
          <p:cNvPr id="55" name="Text 50"/>
          <p:cNvSpPr/>
          <p:nvPr/>
        </p:nvSpPr>
        <p:spPr>
          <a:xfrm>
            <a:off x="8385048" y="5614416"/>
            <a:ext cx="3108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কামড়ের ৭ দিনের মধ্যে অ্যান্টি-রেবিজ ভ্যাকসিন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ক্ষতস্থান দ্রুত সাবান ও পানি দিয়ে ধোয়া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বন্যপ্রাণী ও বেওয়ারিশ কুকুর থেকে দূরে রাখা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রোগাক্রান্ত পশু পরীক্ষা করার সময় গ্লাভস পরা</a:t>
            </a:r>
            <a:endParaRPr lang="en-US" sz="93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82B3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গরুর ব্যাকটেরিয়াজনিত রোগ ও নিয়ন্ত্রণ ব্যবস্থাপনা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5" name="Shape 3"/>
          <p:cNvSpPr/>
          <p:nvPr/>
        </p:nvSpPr>
        <p:spPr>
          <a:xfrm>
            <a:off x="-91440" y="-91440"/>
            <a:ext cx="1645920" cy="1645920"/>
          </a:xfrm>
          <a:prstGeom prst="rtTriangle">
            <a:avLst/>
          </a:prstGeom>
          <a:solidFill>
            <a:srgbClr val="00E676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 rot="10800000">
            <a:off x="10634472" y="5303520"/>
            <a:ext cx="1645920" cy="1645920"/>
          </a:xfrm>
          <a:prstGeom prst="rtTriangle">
            <a:avLst/>
          </a:prstGeom>
          <a:solidFill>
            <a:srgbClr val="1DE9B6">
              <a:alpha val="6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1155680" y="365760"/>
            <a:ext cx="457200" cy="457200"/>
          </a:xfrm>
          <a:prstGeom prst="ellipse">
            <a:avLst/>
          </a:prstGeom>
          <a:solidFill>
            <a:srgbClr val="1DE9B6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969264"/>
            <a:ext cx="3621024" cy="5522976"/>
          </a:xfrm>
          <a:prstGeom prst="roundRect">
            <a:avLst>
              <a:gd name="adj" fmla="val 2525"/>
            </a:avLst>
          </a:prstGeom>
          <a:solidFill>
            <a:srgbClr val="0B343B"/>
          </a:solidFill>
          <a:ln w="12700">
            <a:solidFill>
              <a:srgbClr val="1E5761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969264"/>
            <a:ext cx="3621024" cy="530352"/>
          </a:xfrm>
          <a:prstGeom prst="roundRect">
            <a:avLst>
              <a:gd name="adj" fmla="val 17241"/>
            </a:avLst>
          </a:prstGeom>
          <a:solidFill>
            <a:srgbClr val="00E676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1335024"/>
            <a:ext cx="3621024" cy="164592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" y="107899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তড়কা রোগ (Anthrax)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6072" y="1618488"/>
            <a:ext cx="3383280" cy="1919097"/>
          </a:xfrm>
          <a:prstGeom prst="roundRect">
            <a:avLst>
              <a:gd name="adj" fmla="val 2382"/>
            </a:avLst>
          </a:prstGeom>
          <a:solidFill>
            <a:srgbClr val="082B30"/>
          </a:solidFill>
          <a:ln w="13970">
            <a:solidFill>
              <a:srgbClr val="00E676"/>
            </a:solidFill>
            <a:prstDash val="solid"/>
          </a:ln>
        </p:spPr>
      </p:sp>
      <p:pic>
        <p:nvPicPr>
          <p:cNvPr id="13" name="Image 0" descr="F:\Commercial Project\pptx generator\pptx generator\uploads\img_sess-msxx5sog-8qty6is_c01a694a-cb10-4edb-bf6d-d390cd30a218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94360" y="1636776"/>
            <a:ext cx="3346704" cy="1882521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76656" y="1700784"/>
            <a:ext cx="384048" cy="384048"/>
          </a:xfrm>
          <a:prstGeom prst="ellipse">
            <a:avLst/>
          </a:prstGeom>
          <a:solidFill>
            <a:srgbClr val="0B343B"/>
          </a:solidFill>
          <a:ln w="13970">
            <a:solidFill>
              <a:srgbClr val="00E67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76656" y="176479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67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0080" y="3694176"/>
            <a:ext cx="3255264" cy="0"/>
          </a:xfrm>
          <a:prstGeom prst="line">
            <a:avLst/>
          </a:prstGeom>
          <a:noFill/>
          <a:ln w="10160">
            <a:solidFill>
              <a:srgbClr val="1E576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58368" y="3867912"/>
            <a:ext cx="54864" cy="237744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8" name="Text 15"/>
          <p:cNvSpPr/>
          <p:nvPr/>
        </p:nvSpPr>
        <p:spPr>
          <a:xfrm>
            <a:off x="786384" y="386791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E67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SIGNS &amp; SYMPTOMS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31520" y="4187952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১০৪°-১০৬° ফা. জ্বর ও দ্রুত শ্বাস-প্রশ্বাস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নাক, মুখ ও মলদ্বার দিয়ে কালো আলকাতরার মতো রক্তপাত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খিঁচুনি, দাঁত কটমট করা ও তীব্র পেট ফাঁপা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রক্ত জমাট বাঁধে না ও দ্রুত মৃত্যু ঘটে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640080" y="5102352"/>
            <a:ext cx="3255264" cy="0"/>
          </a:xfrm>
          <a:prstGeom prst="line">
            <a:avLst/>
          </a:prstGeom>
          <a:noFill/>
          <a:ln w="8255">
            <a:solidFill>
              <a:srgbClr val="1E576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58368" y="5294376"/>
            <a:ext cx="54864" cy="237744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22" name="Text 19"/>
          <p:cNvSpPr/>
          <p:nvPr/>
        </p:nvSpPr>
        <p:spPr>
          <a:xfrm>
            <a:off x="786384" y="529437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E9B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PREVENTION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31520" y="5614416"/>
            <a:ext cx="3108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সুস্থ অবস্থায় অ্যানথ্রাক্স টিকা প্রদান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পেনিসিলিন ও ডিপোমাইসিন ইনজেকশন প্রয়োগ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মৃতদেহ না কেটে ২ মিটার গভীর গর্তে চুন দিয়ে পোঁতা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১০% NaOH দ্রবণ দ্বারা গোশালা জীবাণুমুক্তকরণ</a:t>
            </a:r>
            <a:endParaRPr lang="en-US" sz="930" dirty="0"/>
          </a:p>
        </p:txBody>
      </p:sp>
      <p:sp>
        <p:nvSpPr>
          <p:cNvPr id="24" name="Shape 21"/>
          <p:cNvSpPr/>
          <p:nvPr/>
        </p:nvSpPr>
        <p:spPr>
          <a:xfrm>
            <a:off x="4283964" y="969264"/>
            <a:ext cx="3621024" cy="5522976"/>
          </a:xfrm>
          <a:prstGeom prst="roundRect">
            <a:avLst>
              <a:gd name="adj" fmla="val 2525"/>
            </a:avLst>
          </a:prstGeom>
          <a:solidFill>
            <a:srgbClr val="0B343B"/>
          </a:solidFill>
          <a:ln w="12700">
            <a:solidFill>
              <a:srgbClr val="1E5761"/>
            </a:solidFill>
            <a:prstDash val="solid"/>
          </a:ln>
          <a:effectLst>
            <a:outerShdw sx="100000" sy="100000" kx="0" ky="0" algn="bl" rotWithShape="0" blurRad="50800" dist="12700" dir="16200000">
              <a:srgbClr val="000000">
                <a:alpha val="16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283964" y="969264"/>
            <a:ext cx="3621024" cy="530352"/>
          </a:xfrm>
          <a:prstGeom prst="roundRect">
            <a:avLst>
              <a:gd name="adj" fmla="val 17241"/>
            </a:avLst>
          </a:prstGeom>
          <a:solidFill>
            <a:srgbClr val="1DE9B6"/>
          </a:solidFill>
          <a:ln/>
        </p:spPr>
      </p:sp>
      <p:sp>
        <p:nvSpPr>
          <p:cNvPr id="26" name="Shape 23"/>
          <p:cNvSpPr/>
          <p:nvPr/>
        </p:nvSpPr>
        <p:spPr>
          <a:xfrm>
            <a:off x="4283964" y="1335024"/>
            <a:ext cx="3621024" cy="164592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27" name="Text 24"/>
          <p:cNvSpPr/>
          <p:nvPr/>
        </p:nvSpPr>
        <p:spPr>
          <a:xfrm>
            <a:off x="4430268" y="1078992"/>
            <a:ext cx="3328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গলাফুলা (Hemorrhagic Septicemia)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4402836" y="1618488"/>
            <a:ext cx="3383280" cy="1919097"/>
          </a:xfrm>
          <a:prstGeom prst="roundRect">
            <a:avLst>
              <a:gd name="adj" fmla="val 2382"/>
            </a:avLst>
          </a:prstGeom>
          <a:solidFill>
            <a:srgbClr val="082B30"/>
          </a:solidFill>
          <a:ln w="13970">
            <a:solidFill>
              <a:srgbClr val="1DE9B6"/>
            </a:solidFill>
            <a:prstDash val="solid"/>
          </a:ln>
        </p:spPr>
      </p:sp>
      <p:pic>
        <p:nvPicPr>
          <p:cNvPr id="29" name="Image 1" descr="F:\Commercial Project\pptx generator\pptx generator\uploads\img_sess-msxx5sog-8qty6is_2efe17a1-0ebd-4d72-94c0-f1b7e9231504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21124" y="1636776"/>
            <a:ext cx="3346704" cy="1882521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4503420" y="1700784"/>
            <a:ext cx="384048" cy="384048"/>
          </a:xfrm>
          <a:prstGeom prst="ellipse">
            <a:avLst/>
          </a:prstGeom>
          <a:solidFill>
            <a:srgbClr val="0B343B"/>
          </a:solidFill>
          <a:ln w="13970">
            <a:solidFill>
              <a:srgbClr val="1DE9B6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503420" y="1764792"/>
            <a:ext cx="38404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E9B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Shape 28"/>
          <p:cNvSpPr/>
          <p:nvPr/>
        </p:nvSpPr>
        <p:spPr>
          <a:xfrm>
            <a:off x="4466844" y="3694176"/>
            <a:ext cx="3255264" cy="0"/>
          </a:xfrm>
          <a:prstGeom prst="line">
            <a:avLst/>
          </a:prstGeom>
          <a:noFill/>
          <a:ln w="10160">
            <a:solidFill>
              <a:srgbClr val="1E5761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4485132" y="3867912"/>
            <a:ext cx="54864" cy="237744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34" name="Text 30"/>
          <p:cNvSpPr/>
          <p:nvPr/>
        </p:nvSpPr>
        <p:spPr>
          <a:xfrm>
            <a:off x="4613148" y="3867912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E9B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SIGNS &amp; SYMPTOMS</a:t>
            </a:r>
            <a:endParaRPr lang="en-US" sz="950" dirty="0"/>
          </a:p>
        </p:txBody>
      </p:sp>
      <p:sp>
        <p:nvSpPr>
          <p:cNvPr id="35" name="Text 31"/>
          <p:cNvSpPr/>
          <p:nvPr/>
        </p:nvSpPr>
        <p:spPr>
          <a:xfrm>
            <a:off x="4558284" y="4187952"/>
            <a:ext cx="310896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শরীরের তাপমাত্রা অত্যধিক বৃদ্ধি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মাথা, ঘাড় ও গলা ফুলে শক্ত ও গরম হওয়া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শ্বাসনালিতে ঘড় ঘড় শব্দ ও তীব্র শ্বাসকষ্ট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পেটে ব্যথা, উদরাময় ও বিষণ্নতা</a:t>
            </a:r>
            <a:endParaRPr lang="en-US" sz="930" dirty="0"/>
          </a:p>
        </p:txBody>
      </p:sp>
      <p:sp>
        <p:nvSpPr>
          <p:cNvPr id="36" name="Shape 32"/>
          <p:cNvSpPr/>
          <p:nvPr/>
        </p:nvSpPr>
        <p:spPr>
          <a:xfrm>
            <a:off x="4466844" y="5102352"/>
            <a:ext cx="3255264" cy="0"/>
          </a:xfrm>
          <a:prstGeom prst="line">
            <a:avLst/>
          </a:prstGeom>
          <a:noFill/>
          <a:ln w="8255">
            <a:solidFill>
              <a:srgbClr val="1E5761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4485132" y="5294376"/>
            <a:ext cx="54864" cy="237744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38" name="Text 34"/>
          <p:cNvSpPr/>
          <p:nvPr/>
        </p:nvSpPr>
        <p:spPr>
          <a:xfrm>
            <a:off x="4613148" y="5294376"/>
            <a:ext cx="3090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E9B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PREVENTION</a:t>
            </a:r>
            <a:endParaRPr lang="en-US" sz="950" dirty="0"/>
          </a:p>
        </p:txBody>
      </p:sp>
      <p:sp>
        <p:nvSpPr>
          <p:cNvPr id="39" name="Text 35"/>
          <p:cNvSpPr/>
          <p:nvPr/>
        </p:nvSpPr>
        <p:spPr>
          <a:xfrm>
            <a:off x="4558284" y="5614416"/>
            <a:ext cx="31089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নিয়মিত গলাফুলা প্রতিষেধক টিকা দেওয়া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প্রাথমিক অবস্থায় সালফোনামাইড বা অ্যান্টিবায়োটিক প্রয়োগ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রোগাক্রান্ত পশুকে নরম পুষ্টিকর খাদ্য দেওয়া</a:t>
            </a:r>
            <a:endParaRPr lang="en-US" sz="93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93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সুস্থ পশু থেকে আক্রান্ত পশুকে পৃথক রাখা</a:t>
            </a:r>
            <a:endParaRPr lang="en-US" sz="93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82B3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খামারে সংক্রামক রোগ প্রতিরোধ ও স্বাস্থ্যবিধি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5" name="Shape 3"/>
          <p:cNvSpPr/>
          <p:nvPr/>
        </p:nvSpPr>
        <p:spPr>
          <a:xfrm>
            <a:off x="-2743200" y="5486400"/>
            <a:ext cx="18288000" cy="2743200"/>
          </a:xfrm>
          <a:prstGeom prst="ellipse">
            <a:avLst/>
          </a:prstGeom>
          <a:solidFill>
            <a:srgbClr val="00E676">
              <a:alpha val="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-1828800" y="5852160"/>
            <a:ext cx="16459200" cy="2286000"/>
          </a:xfrm>
          <a:prstGeom prst="ellipse">
            <a:avLst/>
          </a:prstGeom>
          <a:solidFill>
            <a:srgbClr val="1DE9B6">
              <a:alpha val="4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00584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খামারের সার্বিক বায়োসিকিউরিটি ও রোগ ব্যবস্থাপনার জন্য অবশ্য পালনীয় পদক্ষেপসমূহ: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73152" cy="731520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9" name="Shape 7"/>
          <p:cNvSpPr/>
          <p:nvPr/>
        </p:nvSpPr>
        <p:spPr>
          <a:xfrm>
            <a:off x="530352" y="1645920"/>
            <a:ext cx="11128248" cy="73152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64592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1.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164592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রোগাক্রান্ত পশুকে তাৎক্ষণিকভাবে সুস্থ পশু থেকে আলাদা শেডে কোয়ারেন্টাইন করা।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57200" y="2450592"/>
            <a:ext cx="73152" cy="73152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3" name="Shape 11"/>
          <p:cNvSpPr/>
          <p:nvPr/>
        </p:nvSpPr>
        <p:spPr>
          <a:xfrm>
            <a:off x="530352" y="2450592"/>
            <a:ext cx="11128248" cy="73152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50592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2.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2450592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মারাত্মক সংক্রামক রোগে মারা যাওয়া পশুর মৃতদেহ না কেটে চুন সহযোগে মাটিতে পুঁতে ফেলা।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57200" y="3255264"/>
            <a:ext cx="73152" cy="731520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352" y="3255264"/>
            <a:ext cx="11128248" cy="73152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255264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3.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3255264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রোগাক্রান্ত প্রাণী কোনো অবস্থাতেই হাট-বাজারে বিক্রি না করা।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457200" y="4059936"/>
            <a:ext cx="73152" cy="73152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1" name="Shape 19"/>
          <p:cNvSpPr/>
          <p:nvPr/>
        </p:nvSpPr>
        <p:spPr>
          <a:xfrm>
            <a:off x="530352" y="4059936"/>
            <a:ext cx="11128248" cy="73152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4059936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4.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80160" y="4059936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গোয়ালঘরের ব্যবহৃত খড়-কুটা পুড়িয়ে ফেলা এবং স্যাভলন বা ব্লিচিং দিয়ে ঘর জীবাণুমুক্ত করা।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457200" y="4864608"/>
            <a:ext cx="73152" cy="731520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25" name="Shape 23"/>
          <p:cNvSpPr/>
          <p:nvPr/>
        </p:nvSpPr>
        <p:spPr>
          <a:xfrm>
            <a:off x="530352" y="4864608"/>
            <a:ext cx="11128248" cy="73152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4864608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5.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280160" y="4864608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নির্দিষ্ট বয়সে প্রতিটি সংক্রামক রোগের টিকাদান কর্মসূচি কঠোরভাবে বাস্তবায়ন করা।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457200" y="5669280"/>
            <a:ext cx="73152" cy="73152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29" name="Shape 27"/>
          <p:cNvSpPr/>
          <p:nvPr/>
        </p:nvSpPr>
        <p:spPr>
          <a:xfrm>
            <a:off x="530352" y="5669280"/>
            <a:ext cx="11128248" cy="731520"/>
          </a:xfrm>
          <a:prstGeom prst="rect">
            <a:avLst/>
          </a:prstGeom>
          <a:solidFill>
            <a:srgbClr val="00E676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669280"/>
            <a:ext cx="548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6.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280160" y="5669280"/>
            <a:ext cx="10241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খামারে বহিরাগত মানুষ ও অনিবন্ধিত পশুর অবাধ প্রবেশ সম্পূর্ণ নিষিদ্ধ করা।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300000">
            <a:off x="-1828800" y="5669280"/>
            <a:ext cx="15544800" cy="137160"/>
          </a:xfrm>
          <a:prstGeom prst="rect">
            <a:avLst/>
          </a:prstGeom>
          <a:solidFill>
            <a:srgbClr val="1DE9B6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 rot="-300000">
            <a:off x="-1828800" y="5943600"/>
            <a:ext cx="15544800" cy="54864"/>
          </a:xfrm>
          <a:prstGeom prst="rect">
            <a:avLst/>
          </a:prstGeom>
          <a:solidFill>
            <a:srgbClr val="00E676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00E676"/>
          </a:solidFill>
          <a:ln/>
          <a:effectLst>
            <a:outerShdw sx="100000" sy="100000" kx="0" ky="0" algn="bl" rotWithShape="0" blurRad="152400" dist="50800" dir="162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584448" y="0"/>
            <a:ext cx="73152" cy="6858000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6" name="Text 4"/>
          <p:cNvSpPr/>
          <p:nvPr/>
        </p:nvSpPr>
        <p:spPr>
          <a:xfrm>
            <a:off x="0" y="2286000"/>
            <a:ext cx="3657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1DE9B6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০৬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4389120" y="256032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পাঠ-১১ ও ১২: পরজীবী ও পরিপাকতন্ত্রের রোগ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4389120" y="4114800"/>
            <a:ext cx="2743200" cy="73152"/>
          </a:xfrm>
          <a:prstGeom prst="rect">
            <a:avLst/>
          </a:prstGeom>
          <a:solidFill>
            <a:srgbClr val="1DE9B6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82B3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গরুর পরজীবী ও প্রোটোজোয়াজনিত রোগ ব্যবস্থাপনা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18872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0B343B"/>
          </a:solidFill>
          <a:ln w="12700">
            <a:solidFill>
              <a:srgbClr val="1E5761"/>
            </a:solidFill>
            <a:prstDash val="solid"/>
          </a:ln>
          <a:effectLst>
            <a:outerShdw sx="100000" sy="100000" kx="0" ky="0" algn="bl" rotWithShape="0" blurRad="76200" dist="25400" dir="135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26187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00E67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122529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🪱  গোলকৃমি (Roundworm)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66928" y="176479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লক্ষণ: ক্ষুধামন্দা, পুষ্টিহীনতা, ত্বক শুষ্ক হওয়া। প্রতিকার: ৩ মাস বয়সে বাছুরকে ফেনবেন্ডাজল বা লিভামিসোল সেবন।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06824" y="118872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0B343B"/>
          </a:solidFill>
          <a:ln w="12700">
            <a:solidFill>
              <a:srgbClr val="1E5761"/>
            </a:solidFill>
            <a:prstDash val="solid"/>
          </a:ln>
          <a:effectLst>
            <a:outerShdw sx="100000" sy="100000" kx="0" ky="0" algn="bl" rotWithShape="0" blurRad="76200" dist="25400" dir="135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79976" y="126187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1DE9B6"/>
          </a:solidFill>
          <a:ln/>
        </p:spPr>
      </p:sp>
      <p:sp>
        <p:nvSpPr>
          <p:cNvPr id="11" name="Text 9"/>
          <p:cNvSpPr/>
          <p:nvPr/>
        </p:nvSpPr>
        <p:spPr>
          <a:xfrm>
            <a:off x="4416552" y="122529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🎗️  ফিতাকৃমি (Tapeworm)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416552" y="176479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লক্ষণ: অন্ত্রে বিষক্রিয়া, বদহজম, পেট ফোলা ও উদরাময়। প্রতিকার: বেনাজল বা হেলমেক্স কৃমিনাশক ওষুধ খাওয়ানো।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56448" y="118872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0B343B"/>
          </a:solidFill>
          <a:ln w="12700">
            <a:solidFill>
              <a:srgbClr val="1E5761"/>
            </a:solidFill>
            <a:prstDash val="solid"/>
          </a:ln>
          <a:effectLst>
            <a:outerShdw sx="100000" sy="100000" kx="0" ky="0" algn="bl" rotWithShape="0" blurRad="76200" dist="25400" dir="135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26187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00E676"/>
          </a:solidFill>
          <a:ln/>
        </p:spPr>
      </p:sp>
      <p:sp>
        <p:nvSpPr>
          <p:cNvPr id="15" name="Text 13"/>
          <p:cNvSpPr/>
          <p:nvPr/>
        </p:nvSpPr>
        <p:spPr>
          <a:xfrm>
            <a:off x="8266176" y="122529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🍃  পাতাকৃমি (Flukes)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66176" y="176479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লক্ষণ: রক্তশূন্যতা, দুর্গন্ধযুক্ত পাতলা মল, যকৃতে প্রদাহ। প্রতিকার: ফ্যাসিনেক্স বা অ্যালবেন্ডাজল নিয়মিত প্রয়োগ।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0B343B"/>
          </a:solidFill>
          <a:ln w="12700">
            <a:solidFill>
              <a:srgbClr val="1E5761"/>
            </a:solidFill>
            <a:prstDash val="solid"/>
          </a:ln>
          <a:effectLst>
            <a:outerShdw sx="100000" sy="100000" kx="0" ky="0" algn="bl" rotWithShape="0" blurRad="76200" dist="25400" dir="135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" y="382219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1DE9B6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78561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🩸  ব্যাবেসিওসিস (রক্তপ্রস্রাব)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66928" y="432511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আটালি বাহিত রোগ। কালচে লাল প্রস্রাব, উচ্চ জ্বর ও রক্তশূন্যতা। প্রতিকার: নিওসিডল স্প্রে ও বেবেনসিন ইনজেকশন।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06824" y="374904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0B343B"/>
          </a:solidFill>
          <a:ln w="12700">
            <a:solidFill>
              <a:srgbClr val="1E5761"/>
            </a:solidFill>
            <a:prstDash val="solid"/>
          </a:ln>
          <a:effectLst>
            <a:outerShdw sx="100000" sy="100000" kx="0" ky="0" algn="bl" rotWithShape="0" blurRad="76200" dist="25400" dir="135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379976" y="382219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00E676"/>
          </a:solidFill>
          <a:ln/>
        </p:spPr>
      </p:sp>
      <p:sp>
        <p:nvSpPr>
          <p:cNvPr id="23" name="Text 21"/>
          <p:cNvSpPr/>
          <p:nvPr/>
        </p:nvSpPr>
        <p:spPr>
          <a:xfrm>
            <a:off x="4416552" y="378561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🦠  কক্সিডিওসিস (রক্ত আমাশয়)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416552" y="432511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লক্ষণ: পায়খানার সাথে দলা রক্ত ও বিজল বের হওয়া। প্রতিকার: পরিষ্কার পরিবেশ ও সালফাডিমিডিন বড়ি সেবন।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56448" y="3749040"/>
            <a:ext cx="3575304" cy="2286000"/>
          </a:xfrm>
          <a:prstGeom prst="roundRect">
            <a:avLst>
              <a:gd name="adj" fmla="val 5600"/>
            </a:avLst>
          </a:prstGeom>
          <a:solidFill>
            <a:srgbClr val="0B343B"/>
          </a:solidFill>
          <a:ln w="12700">
            <a:solidFill>
              <a:srgbClr val="1E5761"/>
            </a:solidFill>
            <a:prstDash val="solid"/>
          </a:ln>
          <a:effectLst>
            <a:outerShdw sx="100000" sy="100000" kx="0" ky="0" algn="bl" rotWithShape="0" blurRad="76200" dist="25400" dir="135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0" y="3822192"/>
            <a:ext cx="3429000" cy="429768"/>
          </a:xfrm>
          <a:prstGeom prst="roundRect">
            <a:avLst>
              <a:gd name="adj" fmla="val 17021"/>
            </a:avLst>
          </a:prstGeom>
          <a:solidFill>
            <a:srgbClr val="1DE9B6"/>
          </a:solidFill>
          <a:ln/>
        </p:spPr>
      </p:sp>
      <p:sp>
        <p:nvSpPr>
          <p:cNvPr id="27" name="Text 25"/>
          <p:cNvSpPr/>
          <p:nvPr/>
        </p:nvSpPr>
        <p:spPr>
          <a:xfrm>
            <a:off x="8266176" y="3785616"/>
            <a:ext cx="3355848" cy="429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🧼  পরজীবী দমন কৌশল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66176" y="4325112"/>
            <a:ext cx="3355848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নিয়মিত ৩-৪ মাস পর পর কৃমিনাশক প্রদান এবং গোয়ালঘরের মেঝে শুকনো ও পরিচ্ছন্ন রাখা অপরিহার্য।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868680"/>
          </a:xfrm>
          <a:prstGeom prst="rect">
            <a:avLst/>
          </a:prstGeom>
          <a:solidFill>
            <a:srgbClr val="082B30"/>
          </a:solidFill>
          <a:ln/>
          <a:effectLst>
            <a:outerShdw sx="100000" sy="100000" kx="0" ky="0" algn="bl" rotWithShape="0" blurRad="101600" dist="38100" dir="16200000">
              <a:srgbClr val="000000">
                <a:alpha val="15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457200" y="0"/>
            <a:ext cx="1127455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অপুষ্টিজনিত সমস্যা ও পরিপাকতন্ত্রের রোগ ব্যবস্থাপনা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0" y="868680"/>
            <a:ext cx="12188952" cy="36576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0B343B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00E676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990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১. অপুষ্টি ও ভিটামিনের অভাবজনিত সমস্যা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201168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ভিটামিন 'এ' ঘাটতি: রাতকানা রোগ হয়। প্রতিকার: শালদুধ ও সবুজ কাঁচা ঘাস খাওয়ানো।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ভিটামিন 'ডি' ঘাটতি: হাড়ের বৃদ্ধি ব্যাহত ও রিকেটস হয়। প্রতিকার: খাদ্য মিশ্রণে সামুদ্রিক মাছের তেল প্রয়োগ।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খনিজ ঘাটতি: হাড় চিবানো ও ক্যালসিয়ামের অভাবে মিল্ক ফিভার (Milk Fever)। প্রতিকার: সুষম দানাদার খাদ্য, হাড়ের গুঁড়া ও খনিজ মিশ্রণ খাওয়ানো।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172200" y="1280160"/>
            <a:ext cx="5394960" cy="4846320"/>
          </a:xfrm>
          <a:prstGeom prst="roundRect">
            <a:avLst>
              <a:gd name="adj" fmla="val 1509"/>
            </a:avLst>
          </a:prstGeom>
          <a:solidFill>
            <a:srgbClr val="0B343B"/>
          </a:solidFill>
          <a:ln w="19050">
            <a:solidFill>
              <a:srgbClr val="1DE9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371600"/>
            <a:ext cx="5212080" cy="502920"/>
          </a:xfrm>
          <a:prstGeom prst="roundRect">
            <a:avLst>
              <a:gd name="adj" fmla="val 10909"/>
            </a:avLst>
          </a:prstGeom>
          <a:solidFill>
            <a:srgbClr val="1DE9B6"/>
          </a:solidFill>
          <a:ln/>
        </p:spPr>
      </p:sp>
      <p:sp>
        <p:nvSpPr>
          <p:cNvPr id="11" name="Text 9"/>
          <p:cNvSpPr/>
          <p:nvPr/>
        </p:nvSpPr>
        <p:spPr>
          <a:xfrm>
            <a:off x="6355080" y="13990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২. পরিপাকতন্ত্রের রোগ (পেটফাঁপা ও উদরাময়)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00800" y="2011680"/>
            <a:ext cx="4937760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পেটফাঁপা (Tympanosis/Bloat): পেটের বাম পাশ অস্বাভাবিক ফুলে যাওয়া ও হাঁপিয়ে নিঃশ্বাস নেওয়া। প্রতিকার: ট্রোকার ও ক্যানুলা দিয়ে গ্যাস বের করা এবং ফরমালিন মিশ্রিত পানি খাওয়ানো।</a:t>
            </a:r>
            <a:endParaRPr lang="en-US" sz="15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• উদরাময় (Diarrhoea): পচা খাদ্য বা জীবাণুর আক্রমণে পাতলা পায়খানা। প্রতিকার: পরিষ্কার পানি, বার্লি পানি, স্যালাইন ও ট্যানিক অ্যাসিড সেবন করানো।</a:t>
            </a:r>
            <a:endParaRPr lang="en-US" sz="15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620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ellipse">
            <a:avLst/>
          </a:prstGeom>
          <a:solidFill>
            <a:srgbClr val="00E676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657600" cy="3657600"/>
          </a:xfrm>
          <a:prstGeom prst="ellipse">
            <a:avLst/>
          </a:prstGeom>
          <a:solidFill>
            <a:srgbClr val="00E676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274320"/>
            <a:ext cx="1645920" cy="1645920"/>
          </a:xfrm>
          <a:prstGeom prst="ellipse">
            <a:avLst/>
          </a:prstGeom>
          <a:solidFill>
            <a:srgbClr val="1DE9B6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0" y="5303520"/>
            <a:ext cx="548640" cy="548640"/>
          </a:xfrm>
          <a:prstGeom prst="ellipse">
            <a:avLst/>
          </a:prstGeom>
          <a:solidFill>
            <a:srgbClr val="1DE9B6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0" y="4754880"/>
            <a:ext cx="365760" cy="365760"/>
          </a:xfrm>
          <a:prstGeom prst="ellipse">
            <a:avLst/>
          </a:prstGeom>
          <a:solidFill>
            <a:srgbClr val="00E676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-2743200" y="5486400"/>
            <a:ext cx="18288000" cy="2743200"/>
          </a:xfrm>
          <a:prstGeom prst="ellipse">
            <a:avLst/>
          </a:prstGeom>
          <a:solidFill>
            <a:srgbClr val="00E676">
              <a:alpha val="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-1828800" y="5852160"/>
            <a:ext cx="16459200" cy="2286000"/>
          </a:xfrm>
          <a:prstGeom prst="ellipse">
            <a:avLst/>
          </a:prstGeom>
          <a:solidFill>
            <a:srgbClr val="1DE9B6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737360"/>
            <a:ext cx="10360152" cy="2606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ধন্যবাদ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4572000" y="4572000"/>
            <a:ext cx="3044952" cy="54864"/>
          </a:xfrm>
          <a:prstGeom prst="rect">
            <a:avLst/>
          </a:prstGeom>
          <a:solidFill>
            <a:srgbClr val="1DE9B6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84632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গবাদিপশুর সুস্থ ব্যবস্থাপনা ও সমৃদ্ধ বাংলাদেশ গড়ায় আমাদের অঙ্গীকার।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Kalpurush" pitchFamily="34" charset="0"/>
                <a:ea typeface="Kalpurush" pitchFamily="34" charset="-122"/>
                <a:cs typeface="Kalpurush" pitchFamily="34" charset="-120"/>
              </a:rPr>
              <a:t>কৃষিশিক্ষা দ্বিতীয় পত্র | রাজেন্দ্রপুর ক্যান্টনমেন্ট পাবলিক কলেজ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Presentation Generator</dc:creator>
  <cp:lastModifiedBy>AI Presentation Generator</cp:lastModifiedBy>
  <cp:revision>1</cp:revision>
  <dcterms:created xsi:type="dcterms:W3CDTF">2026-08-18T00:32:41Z</dcterms:created>
  <dcterms:modified xsi:type="dcterms:W3CDTF">2026-08-18T00:32:41Z</dcterms:modified>
</cp:coreProperties>
</file>